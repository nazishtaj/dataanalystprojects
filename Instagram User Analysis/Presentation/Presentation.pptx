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58" r:id="rId3"/>
    <p:sldId id="260" r:id="rId4"/>
    <p:sldId id="262" r:id="rId5"/>
    <p:sldId id="261" r:id="rId6"/>
    <p:sldId id="263" r:id="rId7"/>
    <p:sldId id="266" r:id="rId8"/>
    <p:sldId id="265" r:id="rId9"/>
    <p:sldId id="264"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0FC84B-DDC2-4AE0-8D40-4049797E3122}" type="datetimeFigureOut">
              <a:rPr lang="en-GB" smtClean="0"/>
              <a:t>05/08/2024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54037B0-2B08-42E8-A6B4-E8ACE4A308B2}" type="slidenum">
              <a:rPr lang="en-GB" smtClean="0"/>
              <a:t>‹#›</a:t>
            </a:fld>
            <a:endParaRPr lang="en-GB"/>
          </a:p>
        </p:txBody>
      </p:sp>
    </p:spTree>
    <p:extLst>
      <p:ext uri="{BB962C8B-B14F-4D97-AF65-F5344CB8AC3E}">
        <p14:creationId xmlns:p14="http://schemas.microsoft.com/office/powerpoint/2010/main" val="568420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0FC84B-DDC2-4AE0-8D40-4049797E3122}" type="datetimeFigureOut">
              <a:rPr lang="en-GB" smtClean="0"/>
              <a:t>05/08/2024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54037B0-2B08-42E8-A6B4-E8ACE4A308B2}" type="slidenum">
              <a:rPr lang="en-GB" smtClean="0"/>
              <a:t>‹#›</a:t>
            </a:fld>
            <a:endParaRPr lang="en-GB"/>
          </a:p>
        </p:txBody>
      </p:sp>
    </p:spTree>
    <p:extLst>
      <p:ext uri="{BB962C8B-B14F-4D97-AF65-F5344CB8AC3E}">
        <p14:creationId xmlns:p14="http://schemas.microsoft.com/office/powerpoint/2010/main" val="2134303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0FC84B-DDC2-4AE0-8D40-4049797E3122}" type="datetimeFigureOut">
              <a:rPr lang="en-GB" smtClean="0"/>
              <a:t>05/08/2024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54037B0-2B08-42E8-A6B4-E8ACE4A308B2}" type="slidenum">
              <a:rPr lang="en-GB" smtClean="0"/>
              <a:t>‹#›</a:t>
            </a:fld>
            <a:endParaRPr lang="en-GB"/>
          </a:p>
        </p:txBody>
      </p:sp>
    </p:spTree>
    <p:extLst>
      <p:ext uri="{BB962C8B-B14F-4D97-AF65-F5344CB8AC3E}">
        <p14:creationId xmlns:p14="http://schemas.microsoft.com/office/powerpoint/2010/main" val="86293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0FC84B-DDC2-4AE0-8D40-4049797E3122}" type="datetimeFigureOut">
              <a:rPr lang="en-GB" smtClean="0"/>
              <a:t>05/08/2024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54037B0-2B08-42E8-A6B4-E8ACE4A308B2}" type="slidenum">
              <a:rPr lang="en-GB" smtClean="0"/>
              <a:t>‹#›</a:t>
            </a:fld>
            <a:endParaRPr lang="en-GB"/>
          </a:p>
        </p:txBody>
      </p:sp>
    </p:spTree>
    <p:extLst>
      <p:ext uri="{BB962C8B-B14F-4D97-AF65-F5344CB8AC3E}">
        <p14:creationId xmlns:p14="http://schemas.microsoft.com/office/powerpoint/2010/main" val="714194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0FC84B-DDC2-4AE0-8D40-4049797E3122}" type="datetimeFigureOut">
              <a:rPr lang="en-GB" smtClean="0"/>
              <a:t>05/08/2024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54037B0-2B08-42E8-A6B4-E8ACE4A308B2}" type="slidenum">
              <a:rPr lang="en-GB" smtClean="0"/>
              <a:t>‹#›</a:t>
            </a:fld>
            <a:endParaRPr lang="en-GB"/>
          </a:p>
        </p:txBody>
      </p:sp>
    </p:spTree>
    <p:extLst>
      <p:ext uri="{BB962C8B-B14F-4D97-AF65-F5344CB8AC3E}">
        <p14:creationId xmlns:p14="http://schemas.microsoft.com/office/powerpoint/2010/main" val="441509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0FC84B-DDC2-4AE0-8D40-4049797E3122}" type="datetimeFigureOut">
              <a:rPr lang="en-GB" smtClean="0"/>
              <a:t>05/08/2024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54037B0-2B08-42E8-A6B4-E8ACE4A308B2}" type="slidenum">
              <a:rPr lang="en-GB" smtClean="0"/>
              <a:t>‹#›</a:t>
            </a:fld>
            <a:endParaRPr lang="en-GB"/>
          </a:p>
        </p:txBody>
      </p:sp>
    </p:spTree>
    <p:extLst>
      <p:ext uri="{BB962C8B-B14F-4D97-AF65-F5344CB8AC3E}">
        <p14:creationId xmlns:p14="http://schemas.microsoft.com/office/powerpoint/2010/main" val="1065652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160FC84B-DDC2-4AE0-8D40-4049797E3122}" type="datetimeFigureOut">
              <a:rPr lang="en-GB" smtClean="0"/>
              <a:t>05/08/2024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54037B0-2B08-42E8-A6B4-E8ACE4A308B2}" type="slidenum">
              <a:rPr lang="en-GB" smtClean="0"/>
              <a:t>‹#›</a:t>
            </a:fld>
            <a:endParaRPr lang="en-GB"/>
          </a:p>
        </p:txBody>
      </p:sp>
    </p:spTree>
    <p:extLst>
      <p:ext uri="{BB962C8B-B14F-4D97-AF65-F5344CB8AC3E}">
        <p14:creationId xmlns:p14="http://schemas.microsoft.com/office/powerpoint/2010/main" val="2316742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0FC84B-DDC2-4AE0-8D40-4049797E3122}" type="datetimeFigureOut">
              <a:rPr lang="en-GB" smtClean="0"/>
              <a:t>05/08/2024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54037B0-2B08-42E8-A6B4-E8ACE4A308B2}" type="slidenum">
              <a:rPr lang="en-GB" smtClean="0"/>
              <a:t>‹#›</a:t>
            </a:fld>
            <a:endParaRPr lang="en-GB"/>
          </a:p>
        </p:txBody>
      </p:sp>
    </p:spTree>
    <p:extLst>
      <p:ext uri="{BB962C8B-B14F-4D97-AF65-F5344CB8AC3E}">
        <p14:creationId xmlns:p14="http://schemas.microsoft.com/office/powerpoint/2010/main" val="1149918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0FC84B-DDC2-4AE0-8D40-4049797E3122}" type="datetimeFigureOut">
              <a:rPr lang="en-GB" smtClean="0"/>
              <a:t>05/08/2024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54037B0-2B08-42E8-A6B4-E8ACE4A308B2}" type="slidenum">
              <a:rPr lang="en-GB" smtClean="0"/>
              <a:t>‹#›</a:t>
            </a:fld>
            <a:endParaRPr lang="en-GB"/>
          </a:p>
        </p:txBody>
      </p:sp>
    </p:spTree>
    <p:extLst>
      <p:ext uri="{BB962C8B-B14F-4D97-AF65-F5344CB8AC3E}">
        <p14:creationId xmlns:p14="http://schemas.microsoft.com/office/powerpoint/2010/main" val="3819321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0FC84B-DDC2-4AE0-8D40-4049797E3122}" type="datetimeFigureOut">
              <a:rPr lang="en-GB" smtClean="0"/>
              <a:t>05/08/2024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54037B0-2B08-42E8-A6B4-E8ACE4A308B2}" type="slidenum">
              <a:rPr lang="en-GB" smtClean="0"/>
              <a:t>‹#›</a:t>
            </a:fld>
            <a:endParaRPr lang="en-GB"/>
          </a:p>
        </p:txBody>
      </p:sp>
    </p:spTree>
    <p:extLst>
      <p:ext uri="{BB962C8B-B14F-4D97-AF65-F5344CB8AC3E}">
        <p14:creationId xmlns:p14="http://schemas.microsoft.com/office/powerpoint/2010/main" val="3243435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0FC84B-DDC2-4AE0-8D40-4049797E3122}" type="datetimeFigureOut">
              <a:rPr lang="en-GB" smtClean="0"/>
              <a:t>05/08/2024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54037B0-2B08-42E8-A6B4-E8ACE4A308B2}" type="slidenum">
              <a:rPr lang="en-GB" smtClean="0"/>
              <a:t>‹#›</a:t>
            </a:fld>
            <a:endParaRPr lang="en-GB"/>
          </a:p>
        </p:txBody>
      </p:sp>
    </p:spTree>
    <p:extLst>
      <p:ext uri="{BB962C8B-B14F-4D97-AF65-F5344CB8AC3E}">
        <p14:creationId xmlns:p14="http://schemas.microsoft.com/office/powerpoint/2010/main" val="5986677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0FC84B-DDC2-4AE0-8D40-4049797E3122}" type="datetimeFigureOut">
              <a:rPr lang="en-GB" smtClean="0"/>
              <a:t>05/08/2024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54037B0-2B08-42E8-A6B4-E8ACE4A308B2}" type="slidenum">
              <a:rPr lang="en-GB" smtClean="0"/>
              <a:t>‹#›</a:t>
            </a:fld>
            <a:endParaRPr lang="en-GB"/>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463132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0FC84B-DDC2-4AE0-8D40-4049797E3122}" type="datetimeFigureOut">
              <a:rPr lang="en-GB" smtClean="0"/>
              <a:t>05/08/2024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54037B0-2B08-42E8-A6B4-E8ACE4A308B2}" type="slidenum">
              <a:rPr lang="en-GB" smtClean="0"/>
              <a:t>‹#›</a:t>
            </a:fld>
            <a:endParaRPr lang="en-GB"/>
          </a:p>
        </p:txBody>
      </p:sp>
    </p:spTree>
    <p:extLst>
      <p:ext uri="{BB962C8B-B14F-4D97-AF65-F5344CB8AC3E}">
        <p14:creationId xmlns:p14="http://schemas.microsoft.com/office/powerpoint/2010/main" val="37631071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60FC84B-DDC2-4AE0-8D40-4049797E3122}" type="datetimeFigureOut">
              <a:rPr lang="en-GB" smtClean="0"/>
              <a:t>05/08/2024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54037B0-2B08-42E8-A6B4-E8ACE4A308B2}" type="slidenum">
              <a:rPr lang="en-GB" smtClean="0"/>
              <a:t>‹#›</a:t>
            </a:fld>
            <a:endParaRPr lang="en-GB"/>
          </a:p>
        </p:txBody>
      </p:sp>
    </p:spTree>
    <p:extLst>
      <p:ext uri="{BB962C8B-B14F-4D97-AF65-F5344CB8AC3E}">
        <p14:creationId xmlns:p14="http://schemas.microsoft.com/office/powerpoint/2010/main" val="16335176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60FC84B-DDC2-4AE0-8D40-4049797E3122}" type="datetimeFigureOut">
              <a:rPr lang="en-GB" smtClean="0"/>
              <a:t>05/08/2024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54037B0-2B08-42E8-A6B4-E8ACE4A308B2}" type="slidenum">
              <a:rPr lang="en-GB" smtClean="0"/>
              <a:t>‹#›</a:t>
            </a:fld>
            <a:endParaRPr lang="en-GB"/>
          </a:p>
        </p:txBody>
      </p:sp>
    </p:spTree>
    <p:extLst>
      <p:ext uri="{BB962C8B-B14F-4D97-AF65-F5344CB8AC3E}">
        <p14:creationId xmlns:p14="http://schemas.microsoft.com/office/powerpoint/2010/main" val="28613579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0FC84B-DDC2-4AE0-8D40-4049797E3122}" type="datetimeFigureOut">
              <a:rPr lang="en-GB" smtClean="0"/>
              <a:t>05/08/2024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54037B0-2B08-42E8-A6B4-E8ACE4A308B2}" type="slidenum">
              <a:rPr lang="en-GB" smtClean="0"/>
              <a:t>‹#›</a:t>
            </a:fld>
            <a:endParaRPr lang="en-GB"/>
          </a:p>
        </p:txBody>
      </p:sp>
    </p:spTree>
    <p:extLst>
      <p:ext uri="{BB962C8B-B14F-4D97-AF65-F5344CB8AC3E}">
        <p14:creationId xmlns:p14="http://schemas.microsoft.com/office/powerpoint/2010/main" val="35860363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0FC84B-DDC2-4AE0-8D40-4049797E3122}" type="datetimeFigureOut">
              <a:rPr lang="en-GB" smtClean="0"/>
              <a:t>05/08/2024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54037B0-2B08-42E8-A6B4-E8ACE4A308B2}" type="slidenum">
              <a:rPr lang="en-GB" smtClean="0"/>
              <a:t>‹#›</a:t>
            </a:fld>
            <a:endParaRPr lang="en-GB"/>
          </a:p>
        </p:txBody>
      </p:sp>
    </p:spTree>
    <p:extLst>
      <p:ext uri="{BB962C8B-B14F-4D97-AF65-F5344CB8AC3E}">
        <p14:creationId xmlns:p14="http://schemas.microsoft.com/office/powerpoint/2010/main" val="1470293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160FC84B-DDC2-4AE0-8D40-4049797E3122}" type="datetimeFigureOut">
              <a:rPr lang="en-GB" smtClean="0"/>
              <a:t>05/08/2024</a:t>
            </a:fld>
            <a:endParaRPr lang="en-GB"/>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GB"/>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554037B0-2B08-42E8-A6B4-E8ACE4A308B2}" type="slidenum">
              <a:rPr lang="en-GB" smtClean="0"/>
              <a:t>‹#›</a:t>
            </a:fld>
            <a:endParaRPr lang="en-GB"/>
          </a:p>
        </p:txBody>
      </p:sp>
    </p:spTree>
    <p:extLst>
      <p:ext uri="{BB962C8B-B14F-4D97-AF65-F5344CB8AC3E}">
        <p14:creationId xmlns:p14="http://schemas.microsoft.com/office/powerpoint/2010/main" val="17074844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5.jf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fif"/><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fif"/><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5.jfif"/><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jfif"/><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f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fif"/><Relationship Id="rId1" Type="http://schemas.openxmlformats.org/officeDocument/2006/relationships/slideLayout" Target="../slideLayouts/slideLayout7.xml"/><Relationship Id="rId4" Type="http://schemas.openxmlformats.org/officeDocument/2006/relationships/image" Target="../media/image15.jp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jfif"/><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6F65E1AA-1FD0-78E3-6BE3-8E90D1076270}"/>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649432" y="821492"/>
            <a:ext cx="10893136" cy="6305153"/>
          </a:xfrm>
          <a:prstGeom prst="rect">
            <a:avLst/>
          </a:prstGeom>
        </p:spPr>
      </p:pic>
      <p:sp>
        <p:nvSpPr>
          <p:cNvPr id="3" name="Rectangle 2">
            <a:extLst>
              <a:ext uri="{FF2B5EF4-FFF2-40B4-BE49-F238E27FC236}">
                <a16:creationId xmlns:a16="http://schemas.microsoft.com/office/drawing/2014/main" id="{06711B3E-D281-2602-C240-8FB2365918DB}"/>
              </a:ext>
            </a:extLst>
          </p:cNvPr>
          <p:cNvSpPr/>
          <p:nvPr/>
        </p:nvSpPr>
        <p:spPr>
          <a:xfrm>
            <a:off x="0" y="109835"/>
            <a:ext cx="11430000" cy="923330"/>
          </a:xfrm>
          <a:prstGeom prst="rect">
            <a:avLst/>
          </a:prstGeom>
          <a:noFill/>
        </p:spPr>
        <p:txBody>
          <a:bodyPr wrap="square" lIns="91440" tIns="45720" rIns="91440" bIns="45720">
            <a:spAutoFit/>
          </a:bodyPr>
          <a:lstStyle/>
          <a:p>
            <a:pPr algn="ctr"/>
            <a:r>
              <a:rPr lang="en-GB" sz="5400" b="1" cap="none" spc="0" dirty="0">
                <a:ln w="9525">
                  <a:solidFill>
                    <a:schemeClr val="bg1"/>
                  </a:solidFill>
                  <a:prstDash val="solid"/>
                </a:ln>
                <a:solidFill>
                  <a:schemeClr val="tx1">
                    <a:lumMod val="75000"/>
                    <a:lumOff val="25000"/>
                  </a:schemeClr>
                </a:solidFill>
                <a:effectLst>
                  <a:outerShdw blurRad="12700" dist="38100" dir="2700000" algn="tl" rotWithShape="0">
                    <a:schemeClr val="bg1">
                      <a:lumMod val="50000"/>
                    </a:schemeClr>
                  </a:outerShdw>
                </a:effectLst>
              </a:rPr>
              <a:t>INSTAGRAM USER ANALYTICS</a:t>
            </a:r>
          </a:p>
        </p:txBody>
      </p:sp>
      <p:sp>
        <p:nvSpPr>
          <p:cNvPr id="7" name="TextBox 6">
            <a:extLst>
              <a:ext uri="{FF2B5EF4-FFF2-40B4-BE49-F238E27FC236}">
                <a16:creationId xmlns:a16="http://schemas.microsoft.com/office/drawing/2014/main" id="{62C100C3-17BC-2AC7-1830-ADEE74E422AF}"/>
              </a:ext>
            </a:extLst>
          </p:cNvPr>
          <p:cNvSpPr txBox="1"/>
          <p:nvPr/>
        </p:nvSpPr>
        <p:spPr>
          <a:xfrm>
            <a:off x="8741352" y="1033165"/>
            <a:ext cx="2408093" cy="369332"/>
          </a:xfrm>
          <a:prstGeom prst="rect">
            <a:avLst/>
          </a:prstGeom>
          <a:noFill/>
        </p:spPr>
        <p:txBody>
          <a:bodyPr wrap="square">
            <a:spAutoFit/>
          </a:bodyPr>
          <a:lstStyle/>
          <a:p>
            <a:r>
              <a:rPr lang="en-US" i="1" dirty="0">
                <a:solidFill>
                  <a:schemeClr val="bg2">
                    <a:lumMod val="20000"/>
                    <a:lumOff val="80000"/>
                  </a:schemeClr>
                </a:solidFill>
                <a:latin typeface="Amasis MT Pro Black" panose="020F0502020204030204" pitchFamily="18" charset="0"/>
                <a:cs typeface="Aparajita" panose="020B0502040204020203" pitchFamily="18" charset="0"/>
              </a:rPr>
              <a:t>By MD. Nazish Taj</a:t>
            </a:r>
            <a:endParaRPr lang="en-GB" i="1" dirty="0">
              <a:solidFill>
                <a:schemeClr val="bg2">
                  <a:lumMod val="20000"/>
                  <a:lumOff val="80000"/>
                </a:schemeClr>
              </a:solidFill>
              <a:latin typeface="Amasis MT Pro Black" panose="020F0502020204030204" pitchFamily="18" charset="0"/>
              <a:cs typeface="Aparajita" panose="020B0502040204020203" pitchFamily="18" charset="0"/>
            </a:endParaRPr>
          </a:p>
        </p:txBody>
      </p:sp>
    </p:spTree>
    <p:extLst>
      <p:ext uri="{BB962C8B-B14F-4D97-AF65-F5344CB8AC3E}">
        <p14:creationId xmlns:p14="http://schemas.microsoft.com/office/powerpoint/2010/main" val="1736968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45A2B23-5AEB-B7A2-1717-BE15F52DCDF0}"/>
              </a:ext>
            </a:extLst>
          </p:cNvPr>
          <p:cNvSpPr txBox="1"/>
          <p:nvPr/>
        </p:nvSpPr>
        <p:spPr>
          <a:xfrm>
            <a:off x="1077191" y="1462219"/>
            <a:ext cx="10037618" cy="3416320"/>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PROJECT DESCRIPTION</a:t>
            </a:r>
            <a:r>
              <a:rPr lang="en-US" dirty="0">
                <a:latin typeface="Arial" panose="020B0604020202020204" pitchFamily="34" charset="0"/>
                <a:cs typeface="Arial" panose="020B0604020202020204" pitchFamily="34" charset="0"/>
              </a:rPr>
              <a:t>: This project aims to analyze the raw data that is provided and retrieve useful insights from it by using SQL queries based on questions asked by the management team. Various database management tools can be used for this project.</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 PROJECT APPROACH</a:t>
            </a:r>
            <a:r>
              <a:rPr lang="en-US" dirty="0">
                <a:latin typeface="Arial" panose="020B0604020202020204" pitchFamily="34" charset="0"/>
                <a:cs typeface="Arial" panose="020B0604020202020204" pitchFamily="34" charset="0"/>
              </a:rPr>
              <a:t>: Using the provided RAW data to create a database in MYSQL Workbench  and implementing various sorting and other queries for data extraction and valuable insights.</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TECH-STACK USED</a:t>
            </a:r>
            <a:r>
              <a:rPr lang="en-US" dirty="0">
                <a:latin typeface="Arial" panose="020B0604020202020204" pitchFamily="34" charset="0"/>
                <a:cs typeface="Arial" panose="020B0604020202020204" pitchFamily="34" charset="0"/>
              </a:rPr>
              <a:t>: MySQL workbench, SQL queries , Microsoft PowerPoint </a:t>
            </a:r>
            <a:endParaRPr lang="en-GB" dirty="0">
              <a:latin typeface="Arial" panose="020B0604020202020204" pitchFamily="34" charset="0"/>
              <a:cs typeface="Arial" panose="020B0604020202020204" pitchFamily="34" charset="0"/>
            </a:endParaRPr>
          </a:p>
        </p:txBody>
      </p:sp>
      <p:pic>
        <p:nvPicPr>
          <p:cNvPr id="5" name="Picture 4" descr="A colorful circle with a logo&#10;&#10;Description automatically generated">
            <a:extLst>
              <a:ext uri="{FF2B5EF4-FFF2-40B4-BE49-F238E27FC236}">
                <a16:creationId xmlns:a16="http://schemas.microsoft.com/office/drawing/2014/main" id="{28DD1E09-32D5-8872-9100-B2F9DDC1079E}"/>
              </a:ext>
            </a:extLst>
          </p:cNvPr>
          <p:cNvPicPr>
            <a:picLocks noChangeAspect="1"/>
          </p:cNvPicPr>
          <p:nvPr/>
        </p:nvPicPr>
        <p:blipFill>
          <a:blip r:embed="rId2">
            <a:alphaModFix amt="42000"/>
            <a:extLst>
              <a:ext uri="{28A0092B-C50C-407E-A947-70E740481C1C}">
                <a14:useLocalDpi xmlns:a14="http://schemas.microsoft.com/office/drawing/2010/main" val="0"/>
              </a:ext>
            </a:extLst>
          </a:blip>
          <a:stretch>
            <a:fillRect/>
          </a:stretch>
        </p:blipFill>
        <p:spPr>
          <a:xfrm>
            <a:off x="10048240" y="-81280"/>
            <a:ext cx="2143760" cy="1362427"/>
          </a:xfrm>
          <a:prstGeom prst="rect">
            <a:avLst/>
          </a:prstGeom>
        </p:spPr>
      </p:pic>
    </p:spTree>
    <p:extLst>
      <p:ext uri="{BB962C8B-B14F-4D97-AF65-F5344CB8AC3E}">
        <p14:creationId xmlns:p14="http://schemas.microsoft.com/office/powerpoint/2010/main" val="3436891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FB95B1-6716-B381-0F86-7F7ED1696C74}"/>
              </a:ext>
            </a:extLst>
          </p:cNvPr>
          <p:cNvSpPr txBox="1"/>
          <p:nvPr/>
        </p:nvSpPr>
        <p:spPr>
          <a:xfrm>
            <a:off x="852055" y="405245"/>
            <a:ext cx="9580418" cy="2031325"/>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INSIGHTS</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A)  </a:t>
            </a:r>
            <a:r>
              <a:rPr lang="en-US" b="1" dirty="0">
                <a:latin typeface="Arial" panose="020B0604020202020204" pitchFamily="34" charset="0"/>
                <a:cs typeface="Arial" panose="020B0604020202020204" pitchFamily="34" charset="0"/>
              </a:rPr>
              <a:t>Marketing: </a:t>
            </a:r>
          </a:p>
          <a:p>
            <a:endParaRPr lang="en-US" dirty="0">
              <a:latin typeface="Arial" panose="020B0604020202020204" pitchFamily="34" charset="0"/>
              <a:cs typeface="Arial" panose="020B0604020202020204" pitchFamily="34" charset="0"/>
            </a:endParaRPr>
          </a:p>
          <a:p>
            <a:pPr marL="342900" indent="-342900">
              <a:buAutoNum type="arabicPeriod"/>
            </a:pPr>
            <a:r>
              <a:rPr lang="en-US" dirty="0">
                <a:latin typeface="Arial" panose="020B0604020202020204" pitchFamily="34" charset="0"/>
                <a:cs typeface="Arial" panose="020B0604020202020204" pitchFamily="34" charset="0"/>
              </a:rPr>
              <a:t>Rewarding the Most Loyal Users: To find 5 oldest users of Instagram from the database provided</a:t>
            </a:r>
          </a:p>
          <a:p>
            <a:pPr marL="342900" indent="-342900">
              <a:buAutoNum type="arabicPeriod"/>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8D2B24-8942-9566-4862-FFFA46EB5CFB}"/>
              </a:ext>
            </a:extLst>
          </p:cNvPr>
          <p:cNvSpPr txBox="1"/>
          <p:nvPr/>
        </p:nvSpPr>
        <p:spPr>
          <a:xfrm>
            <a:off x="1257300" y="3605645"/>
            <a:ext cx="10349345" cy="923330"/>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select</a:t>
            </a:r>
            <a:r>
              <a:rPr lang="en-US" dirty="0">
                <a:latin typeface="Arial" panose="020B0604020202020204" pitchFamily="34" charset="0"/>
                <a:cs typeface="Arial" panose="020B0604020202020204" pitchFamily="34" charset="0"/>
              </a:rPr>
              <a:t> * </a:t>
            </a:r>
            <a:r>
              <a:rPr lang="en-US" b="1" dirty="0">
                <a:latin typeface="Arial" panose="020B0604020202020204" pitchFamily="34" charset="0"/>
                <a:cs typeface="Arial" panose="020B0604020202020204" pitchFamily="34" charset="0"/>
              </a:rPr>
              <a:t>from</a:t>
            </a:r>
            <a:r>
              <a:rPr lang="en-US" dirty="0">
                <a:latin typeface="Arial" panose="020B0604020202020204" pitchFamily="34" charset="0"/>
                <a:cs typeface="Arial" panose="020B0604020202020204" pitchFamily="34" charset="0"/>
              </a:rPr>
              <a:t> users</a:t>
            </a:r>
          </a:p>
          <a:p>
            <a:r>
              <a:rPr lang="en-US" b="1" dirty="0">
                <a:latin typeface="Arial" panose="020B0604020202020204" pitchFamily="34" charset="0"/>
                <a:cs typeface="Arial" panose="020B0604020202020204" pitchFamily="34" charset="0"/>
              </a:rPr>
              <a:t>order</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by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created_at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limit</a:t>
            </a:r>
            <a:r>
              <a:rPr lang="en-US" dirty="0">
                <a:latin typeface="Arial" panose="020B0604020202020204" pitchFamily="34" charset="0"/>
                <a:cs typeface="Arial" panose="020B0604020202020204" pitchFamily="34" charset="0"/>
              </a:rPr>
              <a:t> 5;</a:t>
            </a:r>
            <a:endParaRPr lang="en-GB"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56619C9-6CDF-5FED-93EA-CE5CBDB11678}"/>
              </a:ext>
            </a:extLst>
          </p:cNvPr>
          <p:cNvPicPr>
            <a:picLocks noChangeAspect="1"/>
          </p:cNvPicPr>
          <p:nvPr/>
        </p:nvPicPr>
        <p:blipFill>
          <a:blip r:embed="rId2"/>
          <a:stretch>
            <a:fillRect/>
          </a:stretch>
        </p:blipFill>
        <p:spPr>
          <a:xfrm>
            <a:off x="4002510" y="1617438"/>
            <a:ext cx="4485707" cy="4229690"/>
          </a:xfrm>
          <a:prstGeom prst="rect">
            <a:avLst/>
          </a:prstGeom>
        </p:spPr>
      </p:pic>
      <p:sp>
        <p:nvSpPr>
          <p:cNvPr id="6" name="TextBox 5">
            <a:extLst>
              <a:ext uri="{FF2B5EF4-FFF2-40B4-BE49-F238E27FC236}">
                <a16:creationId xmlns:a16="http://schemas.microsoft.com/office/drawing/2014/main" id="{7519DBBF-281C-5D6A-B3AE-AB34052BA3E8}"/>
              </a:ext>
            </a:extLst>
          </p:cNvPr>
          <p:cNvSpPr txBox="1"/>
          <p:nvPr/>
        </p:nvSpPr>
        <p:spPr>
          <a:xfrm>
            <a:off x="2376055" y="5952206"/>
            <a:ext cx="8347364"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Conclusion</a:t>
            </a:r>
            <a:r>
              <a:rPr lang="en-US" dirty="0">
                <a:latin typeface="Arial" panose="020B0604020202020204" pitchFamily="34" charset="0"/>
                <a:cs typeface="Arial" panose="020B0604020202020204" pitchFamily="34" charset="0"/>
              </a:rPr>
              <a:t>: Users with id 80 ,67,63,95,38 are 5 oldest users of Instagram</a:t>
            </a:r>
            <a:endParaRPr lang="en-GB" dirty="0">
              <a:latin typeface="Arial" panose="020B0604020202020204" pitchFamily="34" charset="0"/>
              <a:cs typeface="Arial" panose="020B0604020202020204" pitchFamily="34" charset="0"/>
            </a:endParaRPr>
          </a:p>
        </p:txBody>
      </p:sp>
      <p:pic>
        <p:nvPicPr>
          <p:cNvPr id="7" name="Picture 6" descr="A colorful circle with a logo&#10;&#10;Description automatically generated">
            <a:extLst>
              <a:ext uri="{FF2B5EF4-FFF2-40B4-BE49-F238E27FC236}">
                <a16:creationId xmlns:a16="http://schemas.microsoft.com/office/drawing/2014/main" id="{E2629C70-10C9-0C02-D306-73DB6DD3180F}"/>
              </a:ext>
            </a:extLst>
          </p:cNvPr>
          <p:cNvPicPr>
            <a:picLocks noChangeAspect="1"/>
          </p:cNvPicPr>
          <p:nvPr/>
        </p:nvPicPr>
        <p:blipFill>
          <a:blip r:embed="rId3">
            <a:alphaModFix amt="42000"/>
            <a:extLst>
              <a:ext uri="{28A0092B-C50C-407E-A947-70E740481C1C}">
                <a14:useLocalDpi xmlns:a14="http://schemas.microsoft.com/office/drawing/2010/main" val="0"/>
              </a:ext>
            </a:extLst>
          </a:blip>
          <a:stretch>
            <a:fillRect/>
          </a:stretch>
        </p:blipFill>
        <p:spPr>
          <a:xfrm>
            <a:off x="10048240" y="-81280"/>
            <a:ext cx="2143760" cy="1362427"/>
          </a:xfrm>
          <a:prstGeom prst="rect">
            <a:avLst/>
          </a:prstGeom>
        </p:spPr>
      </p:pic>
    </p:spTree>
    <p:extLst>
      <p:ext uri="{BB962C8B-B14F-4D97-AF65-F5344CB8AC3E}">
        <p14:creationId xmlns:p14="http://schemas.microsoft.com/office/powerpoint/2010/main" val="4165492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3F5AC8-9DD6-FB42-58AC-2044302CCFE4}"/>
              </a:ext>
            </a:extLst>
          </p:cNvPr>
          <p:cNvSpPr txBox="1"/>
          <p:nvPr/>
        </p:nvSpPr>
        <p:spPr>
          <a:xfrm>
            <a:off x="602673" y="332509"/>
            <a:ext cx="10983191" cy="923330"/>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2</a:t>
            </a:r>
            <a:r>
              <a:rPr lang="en-GB" b="1" dirty="0">
                <a:latin typeface="Arial" panose="020B0604020202020204" pitchFamily="34" charset="0"/>
                <a:cs typeface="Arial" panose="020B0604020202020204" pitchFamily="34" charset="0"/>
              </a:rPr>
              <a:t>. Remind Inactive Users to Start Posting</a:t>
            </a:r>
            <a:r>
              <a:rPr lang="en-GB" dirty="0">
                <a:latin typeface="Arial" panose="020B0604020202020204" pitchFamily="34" charset="0"/>
                <a:cs typeface="Arial" panose="020B0604020202020204" pitchFamily="34" charset="0"/>
              </a:rPr>
              <a:t>: To find users who have never posted a single photo on Instagram.</a:t>
            </a:r>
          </a:p>
          <a:p>
            <a:endParaRPr lang="en-GB"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4F46A46A-5D9D-4239-2477-813ECAA455A8}"/>
              </a:ext>
            </a:extLst>
          </p:cNvPr>
          <p:cNvPicPr>
            <a:picLocks noChangeAspect="1"/>
          </p:cNvPicPr>
          <p:nvPr/>
        </p:nvPicPr>
        <p:blipFill>
          <a:blip r:embed="rId2"/>
          <a:stretch>
            <a:fillRect/>
          </a:stretch>
        </p:blipFill>
        <p:spPr>
          <a:xfrm>
            <a:off x="2204668" y="978840"/>
            <a:ext cx="4809197" cy="5387683"/>
          </a:xfrm>
          <a:prstGeom prst="rect">
            <a:avLst/>
          </a:prstGeom>
        </p:spPr>
      </p:pic>
      <p:sp>
        <p:nvSpPr>
          <p:cNvPr id="5" name="TextBox 4">
            <a:extLst>
              <a:ext uri="{FF2B5EF4-FFF2-40B4-BE49-F238E27FC236}">
                <a16:creationId xmlns:a16="http://schemas.microsoft.com/office/drawing/2014/main" id="{F85996FF-0510-5E10-1FB3-564069FE2D3D}"/>
              </a:ext>
            </a:extLst>
          </p:cNvPr>
          <p:cNvSpPr txBox="1"/>
          <p:nvPr/>
        </p:nvSpPr>
        <p:spPr>
          <a:xfrm>
            <a:off x="7362663" y="2045999"/>
            <a:ext cx="4809197" cy="1477328"/>
          </a:xfrm>
          <a:prstGeom prst="rect">
            <a:avLst/>
          </a:prstGeom>
          <a:noFill/>
        </p:spPr>
        <p:txBody>
          <a:bodyPr wrap="square" rtlCol="0">
            <a:spAutoFit/>
          </a:bodyPr>
          <a:lstStyle/>
          <a:p>
            <a:r>
              <a:rPr lang="en-GB" b="1" dirty="0">
                <a:latin typeface="Arial" panose="020B0604020202020204" pitchFamily="34" charset="0"/>
                <a:cs typeface="Arial" panose="020B0604020202020204" pitchFamily="34" charset="0"/>
              </a:rPr>
              <a:t>select</a:t>
            </a:r>
            <a:r>
              <a:rPr lang="en-GB" dirty="0">
                <a:latin typeface="Arial" panose="020B0604020202020204" pitchFamily="34" charset="0"/>
                <a:cs typeface="Arial" panose="020B0604020202020204" pitchFamily="34" charset="0"/>
              </a:rPr>
              <a:t> </a:t>
            </a:r>
            <a:r>
              <a:rPr lang="en-GB" dirty="0" err="1">
                <a:latin typeface="Arial" panose="020B0604020202020204" pitchFamily="34" charset="0"/>
                <a:cs typeface="Arial" panose="020B0604020202020204" pitchFamily="34" charset="0"/>
              </a:rPr>
              <a:t>users.username</a:t>
            </a:r>
            <a:r>
              <a:rPr lang="en-GB" dirty="0">
                <a:latin typeface="Arial" panose="020B0604020202020204" pitchFamily="34" charset="0"/>
                <a:cs typeface="Arial" panose="020B0604020202020204" pitchFamily="34" charset="0"/>
              </a:rPr>
              <a:t> , photos.id </a:t>
            </a:r>
          </a:p>
          <a:p>
            <a:r>
              <a:rPr lang="en-GB" b="1" dirty="0">
                <a:latin typeface="Arial" panose="020B0604020202020204" pitchFamily="34" charset="0"/>
                <a:cs typeface="Arial" panose="020B0604020202020204" pitchFamily="34" charset="0"/>
              </a:rPr>
              <a:t>from</a:t>
            </a:r>
            <a:r>
              <a:rPr lang="en-GB" dirty="0">
                <a:latin typeface="Arial" panose="020B0604020202020204" pitchFamily="34" charset="0"/>
                <a:cs typeface="Arial" panose="020B0604020202020204" pitchFamily="34" charset="0"/>
              </a:rPr>
              <a:t> users</a:t>
            </a:r>
          </a:p>
          <a:p>
            <a:r>
              <a:rPr lang="en-GB" b="1" dirty="0">
                <a:latin typeface="Arial" panose="020B0604020202020204" pitchFamily="34" charset="0"/>
                <a:cs typeface="Arial" panose="020B0604020202020204" pitchFamily="34" charset="0"/>
              </a:rPr>
              <a:t>left</a:t>
            </a:r>
            <a:r>
              <a:rPr lang="en-GB" dirty="0">
                <a:latin typeface="Arial" panose="020B0604020202020204" pitchFamily="34" charset="0"/>
                <a:cs typeface="Arial" panose="020B0604020202020204" pitchFamily="34" charset="0"/>
              </a:rPr>
              <a:t> </a:t>
            </a:r>
            <a:r>
              <a:rPr lang="en-GB" b="1" dirty="0">
                <a:latin typeface="Arial" panose="020B0604020202020204" pitchFamily="34" charset="0"/>
                <a:cs typeface="Arial" panose="020B0604020202020204" pitchFamily="34" charset="0"/>
              </a:rPr>
              <a:t>join</a:t>
            </a:r>
            <a:r>
              <a:rPr lang="en-GB" dirty="0">
                <a:latin typeface="Arial" panose="020B0604020202020204" pitchFamily="34" charset="0"/>
                <a:cs typeface="Arial" panose="020B0604020202020204" pitchFamily="34" charset="0"/>
              </a:rPr>
              <a:t> photos</a:t>
            </a:r>
          </a:p>
          <a:p>
            <a:r>
              <a:rPr lang="en-GB" b="1" dirty="0">
                <a:latin typeface="Arial" panose="020B0604020202020204" pitchFamily="34" charset="0"/>
                <a:cs typeface="Arial" panose="020B0604020202020204" pitchFamily="34" charset="0"/>
              </a:rPr>
              <a:t>on</a:t>
            </a:r>
            <a:r>
              <a:rPr lang="en-GB" dirty="0">
                <a:latin typeface="Arial" panose="020B0604020202020204" pitchFamily="34" charset="0"/>
                <a:cs typeface="Arial" panose="020B0604020202020204" pitchFamily="34" charset="0"/>
              </a:rPr>
              <a:t> users.id=</a:t>
            </a:r>
            <a:r>
              <a:rPr lang="en-GB" dirty="0" err="1">
                <a:latin typeface="Arial" panose="020B0604020202020204" pitchFamily="34" charset="0"/>
                <a:cs typeface="Arial" panose="020B0604020202020204" pitchFamily="34" charset="0"/>
              </a:rPr>
              <a:t>photos.user_id</a:t>
            </a:r>
            <a:endParaRPr lang="en-GB" dirty="0">
              <a:latin typeface="Arial" panose="020B06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where</a:t>
            </a:r>
            <a:r>
              <a:rPr lang="en-GB" dirty="0">
                <a:latin typeface="Arial" panose="020B0604020202020204" pitchFamily="34" charset="0"/>
                <a:cs typeface="Arial" panose="020B0604020202020204" pitchFamily="34" charset="0"/>
              </a:rPr>
              <a:t> photos.id </a:t>
            </a:r>
            <a:r>
              <a:rPr lang="en-GB" b="1" dirty="0">
                <a:latin typeface="Arial" panose="020B0604020202020204" pitchFamily="34" charset="0"/>
                <a:cs typeface="Arial" panose="020B0604020202020204" pitchFamily="34" charset="0"/>
              </a:rPr>
              <a:t>is</a:t>
            </a:r>
            <a:r>
              <a:rPr lang="en-GB" dirty="0">
                <a:latin typeface="Arial" panose="020B0604020202020204" pitchFamily="34" charset="0"/>
                <a:cs typeface="Arial" panose="020B0604020202020204" pitchFamily="34" charset="0"/>
              </a:rPr>
              <a:t> </a:t>
            </a:r>
            <a:r>
              <a:rPr lang="en-GB" b="1" dirty="0">
                <a:latin typeface="Arial" panose="020B0604020202020204" pitchFamily="34" charset="0"/>
                <a:cs typeface="Arial" panose="020B0604020202020204" pitchFamily="34" charset="0"/>
              </a:rPr>
              <a:t>Null</a:t>
            </a:r>
            <a:r>
              <a:rPr lang="en-GB" dirty="0">
                <a:latin typeface="Arial" panose="020B0604020202020204" pitchFamily="34" charset="0"/>
                <a:cs typeface="Arial" panose="020B0604020202020204" pitchFamily="34" charset="0"/>
              </a:rPr>
              <a:t>;</a:t>
            </a:r>
          </a:p>
        </p:txBody>
      </p:sp>
      <p:sp>
        <p:nvSpPr>
          <p:cNvPr id="6" name="TextBox 5">
            <a:extLst>
              <a:ext uri="{FF2B5EF4-FFF2-40B4-BE49-F238E27FC236}">
                <a16:creationId xmlns:a16="http://schemas.microsoft.com/office/drawing/2014/main" id="{CA862389-D1F6-6BC9-FD26-B9A23312E54E}"/>
              </a:ext>
            </a:extLst>
          </p:cNvPr>
          <p:cNvSpPr txBox="1"/>
          <p:nvPr/>
        </p:nvSpPr>
        <p:spPr>
          <a:xfrm>
            <a:off x="1691925" y="6478113"/>
            <a:ext cx="9746672"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Conclusion</a:t>
            </a:r>
            <a:r>
              <a:rPr lang="en-US" dirty="0">
                <a:latin typeface="Arial" panose="020B0604020202020204" pitchFamily="34" charset="0"/>
                <a:cs typeface="Arial" panose="020B0604020202020204" pitchFamily="34" charset="0"/>
              </a:rPr>
              <a:t>: Above mentioned users haven’t posted a single photo on Instagram.</a:t>
            </a:r>
            <a:endParaRPr lang="en-GB" dirty="0">
              <a:latin typeface="Arial" panose="020B0604020202020204" pitchFamily="34" charset="0"/>
              <a:cs typeface="Arial" panose="020B0604020202020204" pitchFamily="34" charset="0"/>
            </a:endParaRPr>
          </a:p>
        </p:txBody>
      </p:sp>
      <p:pic>
        <p:nvPicPr>
          <p:cNvPr id="7" name="Picture 6" descr="A colorful circle with a logo&#10;&#10;Description automatically generated">
            <a:extLst>
              <a:ext uri="{FF2B5EF4-FFF2-40B4-BE49-F238E27FC236}">
                <a16:creationId xmlns:a16="http://schemas.microsoft.com/office/drawing/2014/main" id="{01FB332C-810C-D8FE-9A78-C9836591E0D1}"/>
              </a:ext>
            </a:extLst>
          </p:cNvPr>
          <p:cNvPicPr>
            <a:picLocks noChangeAspect="1"/>
          </p:cNvPicPr>
          <p:nvPr/>
        </p:nvPicPr>
        <p:blipFill>
          <a:blip r:embed="rId3">
            <a:alphaModFix amt="42000"/>
            <a:extLst>
              <a:ext uri="{28A0092B-C50C-407E-A947-70E740481C1C}">
                <a14:useLocalDpi xmlns:a14="http://schemas.microsoft.com/office/drawing/2010/main" val="0"/>
              </a:ext>
            </a:extLst>
          </a:blip>
          <a:stretch>
            <a:fillRect/>
          </a:stretch>
        </p:blipFill>
        <p:spPr>
          <a:xfrm>
            <a:off x="10048240" y="-81280"/>
            <a:ext cx="2143760" cy="1362427"/>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22B4B126-CDB2-C292-ECEC-84EE52EB93EF}"/>
              </a:ext>
            </a:extLst>
          </p:cNvPr>
          <p:cNvPicPr>
            <a:picLocks noChangeAspect="1"/>
          </p:cNvPicPr>
          <p:nvPr/>
        </p:nvPicPr>
        <p:blipFill rotWithShape="1">
          <a:blip r:embed="rId4">
            <a:extLst>
              <a:ext uri="{28A0092B-C50C-407E-A947-70E740481C1C}">
                <a14:useLocalDpi xmlns:a14="http://schemas.microsoft.com/office/drawing/2010/main" val="0"/>
              </a:ext>
            </a:extLst>
          </a:blip>
          <a:srcRect l="23647" t="22911" r="23647" b="26059"/>
          <a:stretch/>
        </p:blipFill>
        <p:spPr>
          <a:xfrm>
            <a:off x="7595560" y="4001665"/>
            <a:ext cx="3108000" cy="1613769"/>
          </a:xfrm>
          <a:prstGeom prst="rect">
            <a:avLst/>
          </a:prstGeom>
        </p:spPr>
      </p:pic>
    </p:spTree>
    <p:extLst>
      <p:ext uri="{BB962C8B-B14F-4D97-AF65-F5344CB8AC3E}">
        <p14:creationId xmlns:p14="http://schemas.microsoft.com/office/powerpoint/2010/main" val="3377997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1C7431-6AAF-BAA6-D597-070019188726}"/>
              </a:ext>
            </a:extLst>
          </p:cNvPr>
          <p:cNvPicPr>
            <a:picLocks noChangeAspect="1"/>
          </p:cNvPicPr>
          <p:nvPr/>
        </p:nvPicPr>
        <p:blipFill>
          <a:blip r:embed="rId2"/>
          <a:stretch>
            <a:fillRect/>
          </a:stretch>
        </p:blipFill>
        <p:spPr>
          <a:xfrm>
            <a:off x="4266878" y="1776845"/>
            <a:ext cx="7516274" cy="3905795"/>
          </a:xfrm>
          <a:prstGeom prst="rect">
            <a:avLst/>
          </a:prstGeom>
        </p:spPr>
      </p:pic>
      <p:sp>
        <p:nvSpPr>
          <p:cNvPr id="4" name="TextBox 3">
            <a:extLst>
              <a:ext uri="{FF2B5EF4-FFF2-40B4-BE49-F238E27FC236}">
                <a16:creationId xmlns:a16="http://schemas.microsoft.com/office/drawing/2014/main" id="{D27D3529-2165-ABEE-8B76-7B9A6D5BA547}"/>
              </a:ext>
            </a:extLst>
          </p:cNvPr>
          <p:cNvSpPr txBox="1"/>
          <p:nvPr/>
        </p:nvSpPr>
        <p:spPr>
          <a:xfrm>
            <a:off x="257465" y="2467725"/>
            <a:ext cx="3880958" cy="3139321"/>
          </a:xfrm>
          <a:prstGeom prst="rect">
            <a:avLst/>
          </a:prstGeom>
          <a:noFill/>
        </p:spPr>
        <p:txBody>
          <a:bodyPr wrap="square" rtlCol="0">
            <a:spAutoFit/>
          </a:bodyPr>
          <a:lstStyle/>
          <a:p>
            <a:r>
              <a:rPr lang="en-GB" b="1" dirty="0">
                <a:latin typeface="Arial" panose="020B0604020202020204" pitchFamily="34" charset="0"/>
                <a:cs typeface="Arial" panose="020B0604020202020204" pitchFamily="34" charset="0"/>
              </a:rPr>
              <a:t>select</a:t>
            </a:r>
            <a:r>
              <a:rPr lang="en-GB" dirty="0">
                <a:latin typeface="Arial" panose="020B0604020202020204" pitchFamily="34" charset="0"/>
                <a:cs typeface="Arial" panose="020B0604020202020204" pitchFamily="34" charset="0"/>
              </a:rPr>
              <a:t>  </a:t>
            </a:r>
            <a:r>
              <a:rPr lang="en-GB" dirty="0" err="1">
                <a:latin typeface="Arial" panose="020B0604020202020204" pitchFamily="34" charset="0"/>
                <a:cs typeface="Arial" panose="020B0604020202020204" pitchFamily="34" charset="0"/>
              </a:rPr>
              <a:t>users.username</a:t>
            </a:r>
            <a:r>
              <a:rPr lang="en-GB" dirty="0">
                <a:latin typeface="Arial" panose="020B0604020202020204" pitchFamily="34" charset="0"/>
                <a:cs typeface="Arial" panose="020B0604020202020204" pitchFamily="34" charset="0"/>
              </a:rPr>
              <a:t> , </a:t>
            </a:r>
            <a:r>
              <a:rPr lang="en-GB" dirty="0" err="1">
                <a:latin typeface="Arial" panose="020B0604020202020204" pitchFamily="34" charset="0"/>
                <a:cs typeface="Arial" panose="020B0604020202020204" pitchFamily="34" charset="0"/>
              </a:rPr>
              <a:t>likes.photo_id</a:t>
            </a:r>
            <a:r>
              <a:rPr lang="en-GB" dirty="0">
                <a:latin typeface="Arial" panose="020B0604020202020204" pitchFamily="34" charset="0"/>
                <a:cs typeface="Arial" panose="020B0604020202020204" pitchFamily="34" charset="0"/>
              </a:rPr>
              <a:t> ,</a:t>
            </a:r>
          </a:p>
          <a:p>
            <a:r>
              <a:rPr lang="en-GB" dirty="0">
                <a:latin typeface="Arial" panose="020B0604020202020204" pitchFamily="34" charset="0"/>
                <a:cs typeface="Arial" panose="020B0604020202020204" pitchFamily="34" charset="0"/>
              </a:rPr>
              <a:t>count(</a:t>
            </a:r>
            <a:r>
              <a:rPr lang="en-GB" dirty="0" err="1">
                <a:latin typeface="Arial" panose="020B0604020202020204" pitchFamily="34" charset="0"/>
                <a:cs typeface="Arial" panose="020B0604020202020204" pitchFamily="34" charset="0"/>
              </a:rPr>
              <a:t>likes.user_id</a:t>
            </a:r>
            <a:r>
              <a:rPr lang="en-GB" dirty="0">
                <a:latin typeface="Arial" panose="020B0604020202020204" pitchFamily="34" charset="0"/>
                <a:cs typeface="Arial" panose="020B0604020202020204" pitchFamily="34" charset="0"/>
              </a:rPr>
              <a:t>) as </a:t>
            </a:r>
            <a:r>
              <a:rPr lang="en-GB" dirty="0" err="1">
                <a:latin typeface="Arial" panose="020B0604020202020204" pitchFamily="34" charset="0"/>
                <a:cs typeface="Arial" panose="020B0604020202020204" pitchFamily="34" charset="0"/>
              </a:rPr>
              <a:t>Total_Likes</a:t>
            </a:r>
            <a:endParaRPr lang="en-GB" dirty="0">
              <a:latin typeface="Arial" panose="020B06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from</a:t>
            </a:r>
            <a:r>
              <a:rPr lang="en-GB" dirty="0">
                <a:latin typeface="Arial" panose="020B0604020202020204" pitchFamily="34" charset="0"/>
                <a:cs typeface="Arial" panose="020B0604020202020204" pitchFamily="34" charset="0"/>
              </a:rPr>
              <a:t> likes</a:t>
            </a:r>
          </a:p>
          <a:p>
            <a:r>
              <a:rPr lang="en-GB" b="1" dirty="0">
                <a:latin typeface="Arial" panose="020B0604020202020204" pitchFamily="34" charset="0"/>
                <a:cs typeface="Arial" panose="020B0604020202020204" pitchFamily="34" charset="0"/>
              </a:rPr>
              <a:t>inner</a:t>
            </a:r>
            <a:r>
              <a:rPr lang="en-GB" dirty="0">
                <a:latin typeface="Arial" panose="020B0604020202020204" pitchFamily="34" charset="0"/>
                <a:cs typeface="Arial" panose="020B0604020202020204" pitchFamily="34" charset="0"/>
              </a:rPr>
              <a:t> </a:t>
            </a:r>
            <a:r>
              <a:rPr lang="en-GB" b="1" dirty="0">
                <a:latin typeface="Arial" panose="020B0604020202020204" pitchFamily="34" charset="0"/>
                <a:cs typeface="Arial" panose="020B0604020202020204" pitchFamily="34" charset="0"/>
              </a:rPr>
              <a:t>join</a:t>
            </a:r>
            <a:r>
              <a:rPr lang="en-GB" dirty="0">
                <a:latin typeface="Arial" panose="020B0604020202020204" pitchFamily="34" charset="0"/>
                <a:cs typeface="Arial" panose="020B0604020202020204" pitchFamily="34" charset="0"/>
              </a:rPr>
              <a:t> photos </a:t>
            </a:r>
            <a:r>
              <a:rPr lang="en-GB" b="1" dirty="0">
                <a:latin typeface="Arial" panose="020B0604020202020204" pitchFamily="34" charset="0"/>
                <a:cs typeface="Arial" panose="020B0604020202020204" pitchFamily="34" charset="0"/>
              </a:rPr>
              <a:t>on</a:t>
            </a:r>
            <a:r>
              <a:rPr lang="en-GB" dirty="0">
                <a:latin typeface="Arial" panose="020B0604020202020204" pitchFamily="34" charset="0"/>
                <a:cs typeface="Arial" panose="020B0604020202020204" pitchFamily="34" charset="0"/>
              </a:rPr>
              <a:t> photos.id=</a:t>
            </a:r>
            <a:r>
              <a:rPr lang="en-GB" dirty="0" err="1">
                <a:latin typeface="Arial" panose="020B0604020202020204" pitchFamily="34" charset="0"/>
                <a:cs typeface="Arial" panose="020B0604020202020204" pitchFamily="34" charset="0"/>
              </a:rPr>
              <a:t>likes.photo_id</a:t>
            </a:r>
            <a:endParaRPr lang="en-GB" dirty="0">
              <a:latin typeface="Arial" panose="020B06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inner</a:t>
            </a:r>
            <a:r>
              <a:rPr lang="en-GB" dirty="0">
                <a:latin typeface="Arial" panose="020B0604020202020204" pitchFamily="34" charset="0"/>
                <a:cs typeface="Arial" panose="020B0604020202020204" pitchFamily="34" charset="0"/>
              </a:rPr>
              <a:t> </a:t>
            </a:r>
            <a:r>
              <a:rPr lang="en-GB" b="1" dirty="0">
                <a:latin typeface="Arial" panose="020B0604020202020204" pitchFamily="34" charset="0"/>
                <a:cs typeface="Arial" panose="020B0604020202020204" pitchFamily="34" charset="0"/>
              </a:rPr>
              <a:t>join</a:t>
            </a:r>
            <a:r>
              <a:rPr lang="en-GB" dirty="0">
                <a:latin typeface="Arial" panose="020B0604020202020204" pitchFamily="34" charset="0"/>
                <a:cs typeface="Arial" panose="020B0604020202020204" pitchFamily="34" charset="0"/>
              </a:rPr>
              <a:t> users </a:t>
            </a:r>
          </a:p>
          <a:p>
            <a:r>
              <a:rPr lang="en-GB" b="1" dirty="0">
                <a:latin typeface="Arial" panose="020B0604020202020204" pitchFamily="34" charset="0"/>
                <a:cs typeface="Arial" panose="020B0604020202020204" pitchFamily="34" charset="0"/>
              </a:rPr>
              <a:t>on</a:t>
            </a:r>
            <a:r>
              <a:rPr lang="en-GB" dirty="0">
                <a:latin typeface="Arial" panose="020B0604020202020204" pitchFamily="34" charset="0"/>
                <a:cs typeface="Arial" panose="020B0604020202020204" pitchFamily="34" charset="0"/>
              </a:rPr>
              <a:t> users.id = </a:t>
            </a:r>
            <a:r>
              <a:rPr lang="en-GB" dirty="0" err="1">
                <a:latin typeface="Arial" panose="020B0604020202020204" pitchFamily="34" charset="0"/>
                <a:cs typeface="Arial" panose="020B0604020202020204" pitchFamily="34" charset="0"/>
              </a:rPr>
              <a:t>photos.user_id</a:t>
            </a:r>
            <a:endParaRPr lang="en-GB" dirty="0">
              <a:latin typeface="Arial" panose="020B06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group</a:t>
            </a:r>
            <a:r>
              <a:rPr lang="en-GB" dirty="0">
                <a:latin typeface="Arial" panose="020B0604020202020204" pitchFamily="34" charset="0"/>
                <a:cs typeface="Arial" panose="020B0604020202020204" pitchFamily="34" charset="0"/>
              </a:rPr>
              <a:t> </a:t>
            </a:r>
            <a:r>
              <a:rPr lang="en-GB" b="1" dirty="0">
                <a:latin typeface="Arial" panose="020B0604020202020204" pitchFamily="34" charset="0"/>
                <a:cs typeface="Arial" panose="020B0604020202020204" pitchFamily="34" charset="0"/>
              </a:rPr>
              <a:t>by</a:t>
            </a:r>
            <a:r>
              <a:rPr lang="en-GB" dirty="0">
                <a:latin typeface="Arial" panose="020B0604020202020204" pitchFamily="34" charset="0"/>
                <a:cs typeface="Arial" panose="020B0604020202020204" pitchFamily="34" charset="0"/>
              </a:rPr>
              <a:t> </a:t>
            </a:r>
            <a:r>
              <a:rPr lang="en-GB" dirty="0" err="1">
                <a:latin typeface="Arial" panose="020B0604020202020204" pitchFamily="34" charset="0"/>
                <a:cs typeface="Arial" panose="020B0604020202020204" pitchFamily="34" charset="0"/>
              </a:rPr>
              <a:t>likes.photo_id</a:t>
            </a:r>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 </a:t>
            </a:r>
            <a:r>
              <a:rPr lang="en-GB" b="1" dirty="0">
                <a:latin typeface="Arial" panose="020B0604020202020204" pitchFamily="34" charset="0"/>
                <a:cs typeface="Arial" panose="020B0604020202020204" pitchFamily="34" charset="0"/>
              </a:rPr>
              <a:t>order</a:t>
            </a:r>
            <a:r>
              <a:rPr lang="en-GB" dirty="0">
                <a:latin typeface="Arial" panose="020B0604020202020204" pitchFamily="34" charset="0"/>
                <a:cs typeface="Arial" panose="020B0604020202020204" pitchFamily="34" charset="0"/>
              </a:rPr>
              <a:t> </a:t>
            </a:r>
            <a:r>
              <a:rPr lang="en-GB" b="1" dirty="0">
                <a:latin typeface="Arial" panose="020B0604020202020204" pitchFamily="34" charset="0"/>
                <a:cs typeface="Arial" panose="020B0604020202020204" pitchFamily="34" charset="0"/>
              </a:rPr>
              <a:t>by</a:t>
            </a:r>
            <a:r>
              <a:rPr lang="en-GB" dirty="0">
                <a:latin typeface="Arial" panose="020B0604020202020204" pitchFamily="34" charset="0"/>
                <a:cs typeface="Arial" panose="020B0604020202020204" pitchFamily="34" charset="0"/>
              </a:rPr>
              <a:t> </a:t>
            </a:r>
            <a:r>
              <a:rPr lang="en-GB" dirty="0" err="1">
                <a:latin typeface="Arial" panose="020B0604020202020204" pitchFamily="34" charset="0"/>
                <a:cs typeface="Arial" panose="020B0604020202020204" pitchFamily="34" charset="0"/>
              </a:rPr>
              <a:t>Total_Likes</a:t>
            </a:r>
            <a:r>
              <a:rPr lang="en-GB" dirty="0">
                <a:latin typeface="Arial" panose="020B0604020202020204" pitchFamily="34" charset="0"/>
                <a:cs typeface="Arial" panose="020B0604020202020204" pitchFamily="34" charset="0"/>
              </a:rPr>
              <a:t> </a:t>
            </a:r>
            <a:r>
              <a:rPr lang="en-GB" dirty="0" err="1">
                <a:latin typeface="Arial" panose="020B0604020202020204" pitchFamily="34" charset="0"/>
                <a:cs typeface="Arial" panose="020B0604020202020204" pitchFamily="34" charset="0"/>
              </a:rPr>
              <a:t>desc</a:t>
            </a:r>
            <a:r>
              <a:rPr lang="en-GB" dirty="0">
                <a:latin typeface="Arial" panose="020B0604020202020204" pitchFamily="34" charset="0"/>
                <a:cs typeface="Arial" panose="020B0604020202020204" pitchFamily="34" charset="0"/>
              </a:rPr>
              <a:t> </a:t>
            </a:r>
          </a:p>
          <a:p>
            <a:r>
              <a:rPr lang="en-GB" b="1" dirty="0">
                <a:latin typeface="Arial" panose="020B0604020202020204" pitchFamily="34" charset="0"/>
                <a:cs typeface="Arial" panose="020B0604020202020204" pitchFamily="34" charset="0"/>
              </a:rPr>
              <a:t>limit</a:t>
            </a:r>
            <a:r>
              <a:rPr lang="en-GB" dirty="0">
                <a:latin typeface="Arial" panose="020B0604020202020204" pitchFamily="34" charset="0"/>
                <a:cs typeface="Arial" panose="020B0604020202020204" pitchFamily="34" charset="0"/>
              </a:rPr>
              <a:t> 1;</a:t>
            </a:r>
          </a:p>
        </p:txBody>
      </p:sp>
      <p:sp>
        <p:nvSpPr>
          <p:cNvPr id="5" name="TextBox 4">
            <a:extLst>
              <a:ext uri="{FF2B5EF4-FFF2-40B4-BE49-F238E27FC236}">
                <a16:creationId xmlns:a16="http://schemas.microsoft.com/office/drawing/2014/main" id="{82AA7A37-141F-D1C2-8E2D-8D8F755D5F27}"/>
              </a:ext>
            </a:extLst>
          </p:cNvPr>
          <p:cNvSpPr txBox="1"/>
          <p:nvPr/>
        </p:nvSpPr>
        <p:spPr>
          <a:xfrm>
            <a:off x="1005840" y="990694"/>
            <a:ext cx="887984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3. Declaring Contest Winner: To find which user got most likes on a single photo</a:t>
            </a:r>
            <a:endParaRPr lang="en-GB"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B98DA8E8-B9FB-FF73-4458-A7741FD1BC7B}"/>
              </a:ext>
            </a:extLst>
          </p:cNvPr>
          <p:cNvSpPr txBox="1"/>
          <p:nvPr/>
        </p:nvSpPr>
        <p:spPr>
          <a:xfrm>
            <a:off x="2225040" y="5974080"/>
            <a:ext cx="7741920" cy="646331"/>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Conclusion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Photo_ID</a:t>
            </a:r>
            <a:r>
              <a:rPr lang="en-US" dirty="0">
                <a:latin typeface="Arial" panose="020B0604020202020204" pitchFamily="34" charset="0"/>
                <a:cs typeface="Arial" panose="020B0604020202020204" pitchFamily="34" charset="0"/>
              </a:rPr>
              <a:t> 145 is the photo got with most likes posted by username Zack_Kemmer93. </a:t>
            </a:r>
            <a:endParaRPr lang="en-GB" dirty="0">
              <a:latin typeface="Arial" panose="020B0604020202020204" pitchFamily="34" charset="0"/>
              <a:cs typeface="Arial" panose="020B0604020202020204" pitchFamily="34" charset="0"/>
            </a:endParaRPr>
          </a:p>
        </p:txBody>
      </p:sp>
      <p:pic>
        <p:nvPicPr>
          <p:cNvPr id="7" name="Picture 6" descr="A colorful circle with a logo&#10;&#10;Description automatically generated">
            <a:extLst>
              <a:ext uri="{FF2B5EF4-FFF2-40B4-BE49-F238E27FC236}">
                <a16:creationId xmlns:a16="http://schemas.microsoft.com/office/drawing/2014/main" id="{07939CD7-FEFD-D060-10ED-601CFBC336BC}"/>
              </a:ext>
            </a:extLst>
          </p:cNvPr>
          <p:cNvPicPr>
            <a:picLocks noChangeAspect="1"/>
          </p:cNvPicPr>
          <p:nvPr/>
        </p:nvPicPr>
        <p:blipFill>
          <a:blip r:embed="rId3">
            <a:alphaModFix amt="42000"/>
            <a:extLst>
              <a:ext uri="{28A0092B-C50C-407E-A947-70E740481C1C}">
                <a14:useLocalDpi xmlns:a14="http://schemas.microsoft.com/office/drawing/2010/main" val="0"/>
              </a:ext>
            </a:extLst>
          </a:blip>
          <a:stretch>
            <a:fillRect/>
          </a:stretch>
        </p:blipFill>
        <p:spPr>
          <a:xfrm>
            <a:off x="10048240" y="-81280"/>
            <a:ext cx="2143760" cy="1362427"/>
          </a:xfrm>
          <a:prstGeom prst="rect">
            <a:avLst/>
          </a:prstGeom>
        </p:spPr>
      </p:pic>
      <p:pic>
        <p:nvPicPr>
          <p:cNvPr id="9" name="Picture 8" descr="A red and white sign">
            <a:extLst>
              <a:ext uri="{FF2B5EF4-FFF2-40B4-BE49-F238E27FC236}">
                <a16:creationId xmlns:a16="http://schemas.microsoft.com/office/drawing/2014/main" id="{160FF015-80AA-47A8-987F-5F9C8EB3F9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562" y="5867306"/>
            <a:ext cx="2165478" cy="753105"/>
          </a:xfrm>
          <a:prstGeom prst="rect">
            <a:avLst/>
          </a:prstGeom>
          <a:pattFill prst="pct10">
            <a:fgClr>
              <a:schemeClr val="tx1"/>
            </a:fgClr>
            <a:bgClr>
              <a:schemeClr val="bg1"/>
            </a:bgClr>
          </a:pattFill>
        </p:spPr>
      </p:pic>
    </p:spTree>
    <p:extLst>
      <p:ext uri="{BB962C8B-B14F-4D97-AF65-F5344CB8AC3E}">
        <p14:creationId xmlns:p14="http://schemas.microsoft.com/office/powerpoint/2010/main" val="870603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38C56C-E5A4-CCBE-4593-32C25B8C0B7A}"/>
              </a:ext>
            </a:extLst>
          </p:cNvPr>
          <p:cNvSpPr txBox="1"/>
          <p:nvPr/>
        </p:nvSpPr>
        <p:spPr>
          <a:xfrm>
            <a:off x="1828800" y="589280"/>
            <a:ext cx="7853680"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4. </a:t>
            </a:r>
            <a:r>
              <a:rPr lang="en-US" b="1" dirty="0">
                <a:latin typeface="Arial" panose="020B0604020202020204" pitchFamily="34" charset="0"/>
                <a:cs typeface="Arial" panose="020B0604020202020204" pitchFamily="34" charset="0"/>
              </a:rPr>
              <a:t>Hashtag Researching</a:t>
            </a:r>
            <a:r>
              <a:rPr lang="en-US" dirty="0">
                <a:latin typeface="Arial" panose="020B0604020202020204" pitchFamily="34" charset="0"/>
                <a:cs typeface="Arial" panose="020B0604020202020204" pitchFamily="34" charset="0"/>
              </a:rPr>
              <a:t>: To identify and suggest Top 5 most commonly used tags on the platform.</a:t>
            </a:r>
            <a:endParaRPr lang="en-GB" dirty="0">
              <a:latin typeface="Arial" panose="020B0604020202020204" pitchFamily="34" charset="0"/>
              <a:cs typeface="Arial" panose="020B0604020202020204" pitchFamily="34" charset="0"/>
            </a:endParaRPr>
          </a:p>
        </p:txBody>
      </p:sp>
      <p:pic>
        <p:nvPicPr>
          <p:cNvPr id="5" name="Picture 4" descr="A colorful circle with a logo&#10;&#10;Description automatically generated">
            <a:extLst>
              <a:ext uri="{FF2B5EF4-FFF2-40B4-BE49-F238E27FC236}">
                <a16:creationId xmlns:a16="http://schemas.microsoft.com/office/drawing/2014/main" id="{A42344F8-6CA1-533A-1A37-59E9CECB548E}"/>
              </a:ext>
            </a:extLst>
          </p:cNvPr>
          <p:cNvPicPr>
            <a:picLocks noChangeAspect="1"/>
          </p:cNvPicPr>
          <p:nvPr/>
        </p:nvPicPr>
        <p:blipFill>
          <a:blip r:embed="rId2">
            <a:alphaModFix amt="42000"/>
            <a:extLst>
              <a:ext uri="{28A0092B-C50C-407E-A947-70E740481C1C}">
                <a14:useLocalDpi xmlns:a14="http://schemas.microsoft.com/office/drawing/2010/main" val="0"/>
              </a:ext>
            </a:extLst>
          </a:blip>
          <a:stretch>
            <a:fillRect/>
          </a:stretch>
        </p:blipFill>
        <p:spPr>
          <a:xfrm>
            <a:off x="10048240" y="-81280"/>
            <a:ext cx="2143760" cy="1362427"/>
          </a:xfrm>
          <a:prstGeom prst="rect">
            <a:avLst/>
          </a:prstGeom>
        </p:spPr>
      </p:pic>
      <p:sp>
        <p:nvSpPr>
          <p:cNvPr id="3" name="TextBox 2">
            <a:extLst>
              <a:ext uri="{FF2B5EF4-FFF2-40B4-BE49-F238E27FC236}">
                <a16:creationId xmlns:a16="http://schemas.microsoft.com/office/drawing/2014/main" id="{32991085-FA9D-5413-1BEA-B8A4D48BC582}"/>
              </a:ext>
            </a:extLst>
          </p:cNvPr>
          <p:cNvSpPr txBox="1"/>
          <p:nvPr/>
        </p:nvSpPr>
        <p:spPr>
          <a:xfrm>
            <a:off x="1319267" y="2150918"/>
            <a:ext cx="4208318" cy="2308324"/>
          </a:xfrm>
          <a:prstGeom prst="rect">
            <a:avLst/>
          </a:prstGeom>
          <a:noFill/>
        </p:spPr>
        <p:txBody>
          <a:bodyPr wrap="square" rtlCol="0">
            <a:spAutoFit/>
          </a:bodyPr>
          <a:lstStyle/>
          <a:p>
            <a:r>
              <a:rPr lang="en-GB" b="1" dirty="0">
                <a:latin typeface="Arial" panose="020B0604020202020204" pitchFamily="34" charset="0"/>
                <a:cs typeface="Arial" panose="020B0604020202020204" pitchFamily="34" charset="0"/>
              </a:rPr>
              <a:t>select</a:t>
            </a:r>
            <a:r>
              <a:rPr lang="en-GB" dirty="0">
                <a:latin typeface="Arial" panose="020B0604020202020204" pitchFamily="34" charset="0"/>
                <a:cs typeface="Arial" panose="020B0604020202020204" pitchFamily="34" charset="0"/>
              </a:rPr>
              <a:t> </a:t>
            </a:r>
            <a:r>
              <a:rPr lang="en-GB" dirty="0" err="1">
                <a:latin typeface="Arial" panose="020B0604020202020204" pitchFamily="34" charset="0"/>
                <a:cs typeface="Arial" panose="020B0604020202020204" pitchFamily="34" charset="0"/>
              </a:rPr>
              <a:t>tags.tag_name</a:t>
            </a:r>
            <a:r>
              <a:rPr lang="en-GB" dirty="0">
                <a:latin typeface="Arial" panose="020B0604020202020204" pitchFamily="34" charset="0"/>
                <a:cs typeface="Arial" panose="020B0604020202020204" pitchFamily="34" charset="0"/>
              </a:rPr>
              <a:t> ,</a:t>
            </a:r>
          </a:p>
          <a:p>
            <a:r>
              <a:rPr lang="en-GB" dirty="0">
                <a:latin typeface="Arial" panose="020B0604020202020204" pitchFamily="34" charset="0"/>
                <a:cs typeface="Arial" panose="020B0604020202020204" pitchFamily="34" charset="0"/>
              </a:rPr>
              <a:t>count(</a:t>
            </a:r>
            <a:r>
              <a:rPr lang="en-GB" dirty="0" err="1">
                <a:latin typeface="Arial" panose="020B0604020202020204" pitchFamily="34" charset="0"/>
                <a:cs typeface="Arial" panose="020B0604020202020204" pitchFamily="34" charset="0"/>
              </a:rPr>
              <a:t>photo_id</a:t>
            </a:r>
            <a:r>
              <a:rPr lang="en-GB" dirty="0">
                <a:latin typeface="Arial" panose="020B0604020202020204" pitchFamily="34" charset="0"/>
                <a:cs typeface="Arial" panose="020B0604020202020204" pitchFamily="34" charset="0"/>
              </a:rPr>
              <a:t>) as </a:t>
            </a:r>
            <a:r>
              <a:rPr lang="en-GB" dirty="0" err="1">
                <a:latin typeface="Arial" panose="020B0604020202020204" pitchFamily="34" charset="0"/>
                <a:cs typeface="Arial" panose="020B0604020202020204" pitchFamily="34" charset="0"/>
              </a:rPr>
              <a:t>CountOfTags</a:t>
            </a:r>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 </a:t>
            </a:r>
            <a:r>
              <a:rPr lang="en-GB" b="1" dirty="0">
                <a:latin typeface="Arial" panose="020B0604020202020204" pitchFamily="34" charset="0"/>
                <a:cs typeface="Arial" panose="020B0604020202020204" pitchFamily="34" charset="0"/>
              </a:rPr>
              <a:t>from</a:t>
            </a:r>
            <a:r>
              <a:rPr lang="en-GB" dirty="0">
                <a:latin typeface="Arial" panose="020B0604020202020204" pitchFamily="34" charset="0"/>
                <a:cs typeface="Arial" panose="020B0604020202020204" pitchFamily="34" charset="0"/>
              </a:rPr>
              <a:t> tags</a:t>
            </a:r>
          </a:p>
          <a:p>
            <a:r>
              <a:rPr lang="en-GB" b="1" dirty="0">
                <a:latin typeface="Arial" panose="020B0604020202020204" pitchFamily="34" charset="0"/>
                <a:cs typeface="Arial" panose="020B0604020202020204" pitchFamily="34" charset="0"/>
              </a:rPr>
              <a:t>inner</a:t>
            </a:r>
            <a:r>
              <a:rPr lang="en-GB" dirty="0">
                <a:latin typeface="Arial" panose="020B0604020202020204" pitchFamily="34" charset="0"/>
                <a:cs typeface="Arial" panose="020B0604020202020204" pitchFamily="34" charset="0"/>
              </a:rPr>
              <a:t> </a:t>
            </a:r>
            <a:r>
              <a:rPr lang="en-GB" b="1" dirty="0">
                <a:latin typeface="Arial" panose="020B0604020202020204" pitchFamily="34" charset="0"/>
                <a:cs typeface="Arial" panose="020B0604020202020204" pitchFamily="34" charset="0"/>
              </a:rPr>
              <a:t>join</a:t>
            </a:r>
            <a:r>
              <a:rPr lang="en-GB" dirty="0">
                <a:latin typeface="Arial" panose="020B0604020202020204" pitchFamily="34" charset="0"/>
                <a:cs typeface="Arial" panose="020B0604020202020204" pitchFamily="34" charset="0"/>
              </a:rPr>
              <a:t> </a:t>
            </a:r>
            <a:r>
              <a:rPr lang="en-GB" dirty="0" err="1">
                <a:latin typeface="Arial" panose="020B0604020202020204" pitchFamily="34" charset="0"/>
                <a:cs typeface="Arial" panose="020B0604020202020204" pitchFamily="34" charset="0"/>
              </a:rPr>
              <a:t>photo_tags</a:t>
            </a:r>
            <a:endParaRPr lang="en-GB" dirty="0">
              <a:latin typeface="Arial" panose="020B06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on</a:t>
            </a:r>
            <a:r>
              <a:rPr lang="en-GB" dirty="0">
                <a:latin typeface="Arial" panose="020B0604020202020204" pitchFamily="34" charset="0"/>
                <a:cs typeface="Arial" panose="020B0604020202020204" pitchFamily="34" charset="0"/>
              </a:rPr>
              <a:t> tags.id=</a:t>
            </a:r>
            <a:r>
              <a:rPr lang="en-GB" dirty="0" err="1">
                <a:latin typeface="Arial" panose="020B0604020202020204" pitchFamily="34" charset="0"/>
                <a:cs typeface="Arial" panose="020B0604020202020204" pitchFamily="34" charset="0"/>
              </a:rPr>
              <a:t>photo_tags.tag_id</a:t>
            </a:r>
            <a:endParaRPr lang="en-GB" dirty="0">
              <a:latin typeface="Arial" panose="020B06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group</a:t>
            </a:r>
            <a:r>
              <a:rPr lang="en-GB" dirty="0">
                <a:latin typeface="Arial" panose="020B0604020202020204" pitchFamily="34" charset="0"/>
                <a:cs typeface="Arial" panose="020B0604020202020204" pitchFamily="34" charset="0"/>
              </a:rPr>
              <a:t> </a:t>
            </a:r>
            <a:r>
              <a:rPr lang="en-GB" b="1" dirty="0">
                <a:latin typeface="Arial" panose="020B0604020202020204" pitchFamily="34" charset="0"/>
                <a:cs typeface="Arial" panose="020B0604020202020204" pitchFamily="34" charset="0"/>
              </a:rPr>
              <a:t>by</a:t>
            </a:r>
            <a:r>
              <a:rPr lang="en-GB" dirty="0">
                <a:latin typeface="Arial" panose="020B0604020202020204" pitchFamily="34" charset="0"/>
                <a:cs typeface="Arial" panose="020B0604020202020204" pitchFamily="34" charset="0"/>
              </a:rPr>
              <a:t> </a:t>
            </a:r>
            <a:r>
              <a:rPr lang="en-GB" dirty="0" err="1">
                <a:latin typeface="Arial" panose="020B0604020202020204" pitchFamily="34" charset="0"/>
                <a:cs typeface="Arial" panose="020B0604020202020204" pitchFamily="34" charset="0"/>
              </a:rPr>
              <a:t>photo_tags.tag_id</a:t>
            </a:r>
            <a:endParaRPr lang="en-GB" dirty="0">
              <a:latin typeface="Arial" panose="020B06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order</a:t>
            </a:r>
            <a:r>
              <a:rPr lang="en-GB" dirty="0">
                <a:latin typeface="Arial" panose="020B0604020202020204" pitchFamily="34" charset="0"/>
                <a:cs typeface="Arial" panose="020B0604020202020204" pitchFamily="34" charset="0"/>
              </a:rPr>
              <a:t> </a:t>
            </a:r>
            <a:r>
              <a:rPr lang="en-GB" b="1" dirty="0">
                <a:latin typeface="Arial" panose="020B0604020202020204" pitchFamily="34" charset="0"/>
                <a:cs typeface="Arial" panose="020B0604020202020204" pitchFamily="34" charset="0"/>
              </a:rPr>
              <a:t>by</a:t>
            </a:r>
            <a:r>
              <a:rPr lang="en-GB" dirty="0">
                <a:latin typeface="Arial" panose="020B0604020202020204" pitchFamily="34" charset="0"/>
                <a:cs typeface="Arial" panose="020B0604020202020204" pitchFamily="34" charset="0"/>
              </a:rPr>
              <a:t> </a:t>
            </a:r>
            <a:r>
              <a:rPr lang="en-GB" dirty="0" err="1">
                <a:latin typeface="Arial" panose="020B0604020202020204" pitchFamily="34" charset="0"/>
                <a:cs typeface="Arial" panose="020B0604020202020204" pitchFamily="34" charset="0"/>
              </a:rPr>
              <a:t>CountOfTags</a:t>
            </a:r>
            <a:r>
              <a:rPr lang="en-GB" dirty="0">
                <a:latin typeface="Arial" panose="020B0604020202020204" pitchFamily="34" charset="0"/>
                <a:cs typeface="Arial" panose="020B0604020202020204" pitchFamily="34" charset="0"/>
              </a:rPr>
              <a:t> </a:t>
            </a:r>
            <a:r>
              <a:rPr lang="en-GB" dirty="0" err="1">
                <a:latin typeface="Arial" panose="020B0604020202020204" pitchFamily="34" charset="0"/>
                <a:cs typeface="Arial" panose="020B0604020202020204" pitchFamily="34" charset="0"/>
              </a:rPr>
              <a:t>desc</a:t>
            </a:r>
            <a:endParaRPr lang="en-GB" dirty="0">
              <a:latin typeface="Arial" panose="020B06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limit</a:t>
            </a:r>
            <a:r>
              <a:rPr lang="en-GB" dirty="0">
                <a:latin typeface="Arial" panose="020B0604020202020204" pitchFamily="34" charset="0"/>
                <a:cs typeface="Arial" panose="020B0604020202020204" pitchFamily="34" charset="0"/>
              </a:rPr>
              <a:t> 5;</a:t>
            </a:r>
          </a:p>
        </p:txBody>
      </p:sp>
      <p:pic>
        <p:nvPicPr>
          <p:cNvPr id="6" name="Picture 5">
            <a:extLst>
              <a:ext uri="{FF2B5EF4-FFF2-40B4-BE49-F238E27FC236}">
                <a16:creationId xmlns:a16="http://schemas.microsoft.com/office/drawing/2014/main" id="{DA026D8B-14C9-B45B-8AF6-368AB3277613}"/>
              </a:ext>
            </a:extLst>
          </p:cNvPr>
          <p:cNvPicPr>
            <a:picLocks noChangeAspect="1"/>
          </p:cNvPicPr>
          <p:nvPr/>
        </p:nvPicPr>
        <p:blipFill>
          <a:blip r:embed="rId3"/>
          <a:stretch>
            <a:fillRect/>
          </a:stretch>
        </p:blipFill>
        <p:spPr>
          <a:xfrm>
            <a:off x="4893362" y="1235611"/>
            <a:ext cx="5410955" cy="4934639"/>
          </a:xfrm>
          <a:prstGeom prst="rect">
            <a:avLst/>
          </a:prstGeom>
        </p:spPr>
      </p:pic>
      <p:sp>
        <p:nvSpPr>
          <p:cNvPr id="7" name="TextBox 6">
            <a:extLst>
              <a:ext uri="{FF2B5EF4-FFF2-40B4-BE49-F238E27FC236}">
                <a16:creationId xmlns:a16="http://schemas.microsoft.com/office/drawing/2014/main" id="{CF990BF6-A089-19D5-FD67-17319807BFBB}"/>
              </a:ext>
            </a:extLst>
          </p:cNvPr>
          <p:cNvSpPr txBox="1"/>
          <p:nvPr/>
        </p:nvSpPr>
        <p:spPr>
          <a:xfrm>
            <a:off x="1319267" y="6447249"/>
            <a:ext cx="10297391"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Conclusion</a:t>
            </a:r>
            <a:r>
              <a:rPr lang="en-US" dirty="0">
                <a:latin typeface="Arial" panose="020B0604020202020204" pitchFamily="34" charset="0"/>
                <a:cs typeface="Arial" panose="020B0604020202020204" pitchFamily="34" charset="0"/>
              </a:rPr>
              <a:t> : smile , beach , party , fun and concert are the most used hashtags on the platform.</a:t>
            </a:r>
            <a:endParaRPr lang="en-GB" dirty="0">
              <a:latin typeface="Arial" panose="020B0604020202020204" pitchFamily="34" charset="0"/>
              <a:cs typeface="Arial" panose="020B0604020202020204" pitchFamily="34" charset="0"/>
            </a:endParaRPr>
          </a:p>
        </p:txBody>
      </p:sp>
      <p:pic>
        <p:nvPicPr>
          <p:cNvPr id="8" name="Picture 7" descr="A blue background with white text&#10;&#10;Description automatically generated">
            <a:extLst>
              <a:ext uri="{FF2B5EF4-FFF2-40B4-BE49-F238E27FC236}">
                <a16:creationId xmlns:a16="http://schemas.microsoft.com/office/drawing/2014/main" id="{3BF11843-010B-CB02-4354-C15D298CCC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15" y="263464"/>
            <a:ext cx="1781988" cy="1017683"/>
          </a:xfrm>
          <a:prstGeom prst="rect">
            <a:avLst/>
          </a:prstGeom>
        </p:spPr>
      </p:pic>
    </p:spTree>
    <p:extLst>
      <p:ext uri="{BB962C8B-B14F-4D97-AF65-F5344CB8AC3E}">
        <p14:creationId xmlns:p14="http://schemas.microsoft.com/office/powerpoint/2010/main" val="2211044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olorful circle with a logo&#10;&#10;Description automatically generated">
            <a:extLst>
              <a:ext uri="{FF2B5EF4-FFF2-40B4-BE49-F238E27FC236}">
                <a16:creationId xmlns:a16="http://schemas.microsoft.com/office/drawing/2014/main" id="{513F51DC-54D2-E80F-2934-7AF6101768C1}"/>
              </a:ext>
            </a:extLst>
          </p:cNvPr>
          <p:cNvPicPr>
            <a:picLocks noChangeAspect="1"/>
          </p:cNvPicPr>
          <p:nvPr/>
        </p:nvPicPr>
        <p:blipFill>
          <a:blip r:embed="rId2">
            <a:alphaModFix amt="42000"/>
            <a:extLst>
              <a:ext uri="{28A0092B-C50C-407E-A947-70E740481C1C}">
                <a14:useLocalDpi xmlns:a14="http://schemas.microsoft.com/office/drawing/2010/main" val="0"/>
              </a:ext>
            </a:extLst>
          </a:blip>
          <a:stretch>
            <a:fillRect/>
          </a:stretch>
        </p:blipFill>
        <p:spPr>
          <a:xfrm>
            <a:off x="10048240" y="-81280"/>
            <a:ext cx="2143760" cy="1362427"/>
          </a:xfrm>
          <a:prstGeom prst="rect">
            <a:avLst/>
          </a:prstGeom>
        </p:spPr>
      </p:pic>
      <p:sp>
        <p:nvSpPr>
          <p:cNvPr id="4" name="TextBox 3">
            <a:extLst>
              <a:ext uri="{FF2B5EF4-FFF2-40B4-BE49-F238E27FC236}">
                <a16:creationId xmlns:a16="http://schemas.microsoft.com/office/drawing/2014/main" id="{BBFD86FB-D0F1-BEC9-45B9-863BD80AAB02}"/>
              </a:ext>
            </a:extLst>
          </p:cNvPr>
          <p:cNvSpPr txBox="1"/>
          <p:nvPr/>
        </p:nvSpPr>
        <p:spPr>
          <a:xfrm>
            <a:off x="1945698" y="599933"/>
            <a:ext cx="7478856"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5</a:t>
            </a:r>
            <a:r>
              <a:rPr lang="en-US" b="1" dirty="0">
                <a:latin typeface="Arial" panose="020B0604020202020204" pitchFamily="34" charset="0"/>
                <a:cs typeface="Arial" panose="020B0604020202020204" pitchFamily="34" charset="0"/>
              </a:rPr>
              <a:t>. Launch AD campaign</a:t>
            </a:r>
            <a:r>
              <a:rPr lang="en-US" dirty="0">
                <a:latin typeface="Arial" panose="020B0604020202020204" pitchFamily="34" charset="0"/>
                <a:cs typeface="Arial" panose="020B0604020202020204" pitchFamily="34" charset="0"/>
              </a:rPr>
              <a:t>: To find which day most user registers on the platform.</a:t>
            </a:r>
            <a:endParaRPr lang="en-GB"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BCFF457-EE1B-C58A-604E-C2E9F727EFD0}"/>
              </a:ext>
            </a:extLst>
          </p:cNvPr>
          <p:cNvSpPr txBox="1"/>
          <p:nvPr/>
        </p:nvSpPr>
        <p:spPr>
          <a:xfrm>
            <a:off x="574098" y="2378608"/>
            <a:ext cx="4938748" cy="1754326"/>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select </a:t>
            </a:r>
            <a:r>
              <a:rPr lang="en-US" dirty="0" err="1">
                <a:latin typeface="Arial" panose="020B0604020202020204" pitchFamily="34" charset="0"/>
                <a:cs typeface="Arial" panose="020B0604020202020204" pitchFamily="34" charset="0"/>
              </a:rPr>
              <a:t>dayname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created_at</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as Day, </a:t>
            </a:r>
          </a:p>
          <a:p>
            <a:r>
              <a:rPr lang="en-US" dirty="0">
                <a:latin typeface="Arial" panose="020B0604020202020204" pitchFamily="34" charset="0"/>
                <a:cs typeface="Arial" panose="020B0604020202020204" pitchFamily="34" charset="0"/>
              </a:rPr>
              <a:t>count(*) as </a:t>
            </a:r>
            <a:r>
              <a:rPr lang="en-US" dirty="0" err="1">
                <a:latin typeface="Arial" panose="020B0604020202020204" pitchFamily="34" charset="0"/>
                <a:cs typeface="Arial" panose="020B0604020202020204" pitchFamily="34" charset="0"/>
              </a:rPr>
              <a:t>No_Of_User_Registered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from users</a:t>
            </a:r>
          </a:p>
          <a:p>
            <a:r>
              <a:rPr lang="en-US" dirty="0">
                <a:latin typeface="Arial" panose="020B0604020202020204" pitchFamily="34" charset="0"/>
                <a:cs typeface="Arial" panose="020B0604020202020204" pitchFamily="34" charset="0"/>
              </a:rPr>
              <a:t>group by </a:t>
            </a:r>
            <a:r>
              <a:rPr lang="en-US" dirty="0" err="1">
                <a:latin typeface="Arial" panose="020B0604020202020204" pitchFamily="34" charset="0"/>
                <a:cs typeface="Arial" panose="020B0604020202020204" pitchFamily="34" charset="0"/>
              </a:rPr>
              <a:t>dayname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created_at</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order by </a:t>
            </a:r>
            <a:r>
              <a:rPr lang="en-US" dirty="0" err="1">
                <a:latin typeface="Arial" panose="020B0604020202020204" pitchFamily="34" charset="0"/>
                <a:cs typeface="Arial" panose="020B0604020202020204" pitchFamily="34" charset="0"/>
              </a:rPr>
              <a:t>No_Of_User_Registereddesc</a:t>
            </a:r>
            <a:r>
              <a:rPr lang="en-US" dirty="0">
                <a:latin typeface="Arial" panose="020B0604020202020204" pitchFamily="34" charset="0"/>
                <a:cs typeface="Arial" panose="020B0604020202020204" pitchFamily="34" charset="0"/>
              </a:rPr>
              <a:t>;</a:t>
            </a:r>
            <a:endParaRPr lang="en-GB"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10AC3915-B0E2-ECF2-5789-765F2A74B668}"/>
              </a:ext>
            </a:extLst>
          </p:cNvPr>
          <p:cNvPicPr>
            <a:picLocks noChangeAspect="1"/>
          </p:cNvPicPr>
          <p:nvPr/>
        </p:nvPicPr>
        <p:blipFill>
          <a:blip r:embed="rId3"/>
          <a:stretch>
            <a:fillRect/>
          </a:stretch>
        </p:blipFill>
        <p:spPr>
          <a:xfrm>
            <a:off x="4935622" y="1246264"/>
            <a:ext cx="7059010" cy="5163271"/>
          </a:xfrm>
          <a:prstGeom prst="rect">
            <a:avLst/>
          </a:prstGeom>
        </p:spPr>
      </p:pic>
      <p:sp>
        <p:nvSpPr>
          <p:cNvPr id="12" name="TextBox 11">
            <a:extLst>
              <a:ext uri="{FF2B5EF4-FFF2-40B4-BE49-F238E27FC236}">
                <a16:creationId xmlns:a16="http://schemas.microsoft.com/office/drawing/2014/main" id="{AAAF565C-C14B-BD9F-A379-AEE0DAF45046}"/>
              </a:ext>
            </a:extLst>
          </p:cNvPr>
          <p:cNvSpPr txBox="1"/>
          <p:nvPr/>
        </p:nvSpPr>
        <p:spPr>
          <a:xfrm>
            <a:off x="574097" y="6409535"/>
            <a:ext cx="6907357"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Conclusion</a:t>
            </a:r>
            <a:r>
              <a:rPr lang="en-US" dirty="0">
                <a:latin typeface="Arial" panose="020B0604020202020204" pitchFamily="34" charset="0"/>
                <a:cs typeface="Arial" panose="020B0604020202020204" pitchFamily="34" charset="0"/>
              </a:rPr>
              <a:t>: Most user registers on </a:t>
            </a:r>
            <a:r>
              <a:rPr lang="en-US" b="1" dirty="0">
                <a:latin typeface="Arial" panose="020B0604020202020204" pitchFamily="34" charset="0"/>
                <a:cs typeface="Arial" panose="020B0604020202020204" pitchFamily="34" charset="0"/>
              </a:rPr>
              <a:t>Thursday and Sunday</a:t>
            </a:r>
            <a:r>
              <a:rPr lang="en-US" dirty="0">
                <a:latin typeface="Arial" panose="020B0604020202020204" pitchFamily="34" charset="0"/>
                <a:cs typeface="Arial" panose="020B0604020202020204" pitchFamily="34" charset="0"/>
              </a:rPr>
              <a:t>.</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05950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olorful circle with a logo&#10;&#10;Description automatically generated">
            <a:extLst>
              <a:ext uri="{FF2B5EF4-FFF2-40B4-BE49-F238E27FC236}">
                <a16:creationId xmlns:a16="http://schemas.microsoft.com/office/drawing/2014/main" id="{CAA1FEFE-2C34-EF3E-A0EA-37463CCA5195}"/>
              </a:ext>
            </a:extLst>
          </p:cNvPr>
          <p:cNvPicPr>
            <a:picLocks noChangeAspect="1"/>
          </p:cNvPicPr>
          <p:nvPr/>
        </p:nvPicPr>
        <p:blipFill>
          <a:blip r:embed="rId2">
            <a:alphaModFix amt="42000"/>
            <a:extLst>
              <a:ext uri="{28A0092B-C50C-407E-A947-70E740481C1C}">
                <a14:useLocalDpi xmlns:a14="http://schemas.microsoft.com/office/drawing/2010/main" val="0"/>
              </a:ext>
            </a:extLst>
          </a:blip>
          <a:stretch>
            <a:fillRect/>
          </a:stretch>
        </p:blipFill>
        <p:spPr>
          <a:xfrm>
            <a:off x="10048240" y="-81280"/>
            <a:ext cx="2143760" cy="1362427"/>
          </a:xfrm>
          <a:prstGeom prst="rect">
            <a:avLst/>
          </a:prstGeom>
        </p:spPr>
      </p:pic>
      <p:sp>
        <p:nvSpPr>
          <p:cNvPr id="4" name="TextBox 3">
            <a:extLst>
              <a:ext uri="{FF2B5EF4-FFF2-40B4-BE49-F238E27FC236}">
                <a16:creationId xmlns:a16="http://schemas.microsoft.com/office/drawing/2014/main" id="{4AC7668E-E129-C754-D65C-337BD77B7A53}"/>
              </a:ext>
            </a:extLst>
          </p:cNvPr>
          <p:cNvSpPr txBox="1"/>
          <p:nvPr/>
        </p:nvSpPr>
        <p:spPr>
          <a:xfrm>
            <a:off x="1018309" y="599933"/>
            <a:ext cx="9029931" cy="1200329"/>
          </a:xfrm>
          <a:prstGeom prst="rect">
            <a:avLst/>
          </a:prstGeom>
          <a:noFill/>
        </p:spPr>
        <p:txBody>
          <a:bodyPr wrap="square">
            <a:spAutoFit/>
          </a:bodyPr>
          <a:lstStyle/>
          <a:p>
            <a:r>
              <a:rPr lang="en-US" dirty="0"/>
              <a:t>								</a:t>
            </a:r>
            <a:r>
              <a:rPr lang="en-US" b="1" dirty="0"/>
              <a:t>B)INVESTOR METRICS</a:t>
            </a:r>
          </a:p>
          <a:p>
            <a:endParaRPr lang="en-US" dirty="0"/>
          </a:p>
          <a:p>
            <a:r>
              <a:rPr lang="en-US" dirty="0"/>
              <a:t> 1. </a:t>
            </a:r>
            <a:r>
              <a:rPr lang="en-US" b="1" dirty="0"/>
              <a:t>User Engagement: </a:t>
            </a:r>
            <a:r>
              <a:rPr lang="en-US" dirty="0"/>
              <a:t>To find how many time on avg user post photos and also to show total no of photos and total no . of users.</a:t>
            </a:r>
            <a:endParaRPr lang="en-GB" dirty="0"/>
          </a:p>
        </p:txBody>
      </p:sp>
      <p:pic>
        <p:nvPicPr>
          <p:cNvPr id="6" name="Picture 5">
            <a:extLst>
              <a:ext uri="{FF2B5EF4-FFF2-40B4-BE49-F238E27FC236}">
                <a16:creationId xmlns:a16="http://schemas.microsoft.com/office/drawing/2014/main" id="{3AD05AF8-AA4B-B091-6753-A9322C47497E}"/>
              </a:ext>
            </a:extLst>
          </p:cNvPr>
          <p:cNvPicPr>
            <a:picLocks noChangeAspect="1"/>
          </p:cNvPicPr>
          <p:nvPr/>
        </p:nvPicPr>
        <p:blipFill>
          <a:blip r:embed="rId3"/>
          <a:stretch>
            <a:fillRect/>
          </a:stretch>
        </p:blipFill>
        <p:spPr>
          <a:xfrm>
            <a:off x="4018409" y="1973686"/>
            <a:ext cx="3943900" cy="3210373"/>
          </a:xfrm>
          <a:prstGeom prst="rect">
            <a:avLst/>
          </a:prstGeom>
        </p:spPr>
      </p:pic>
      <p:sp>
        <p:nvSpPr>
          <p:cNvPr id="8" name="TextBox 7">
            <a:extLst>
              <a:ext uri="{FF2B5EF4-FFF2-40B4-BE49-F238E27FC236}">
                <a16:creationId xmlns:a16="http://schemas.microsoft.com/office/drawing/2014/main" id="{14435805-EC36-DF46-E56A-E53F853D752F}"/>
              </a:ext>
            </a:extLst>
          </p:cNvPr>
          <p:cNvSpPr txBox="1"/>
          <p:nvPr/>
        </p:nvSpPr>
        <p:spPr>
          <a:xfrm>
            <a:off x="355888" y="3429000"/>
            <a:ext cx="5740112" cy="1200329"/>
          </a:xfrm>
          <a:prstGeom prst="rect">
            <a:avLst/>
          </a:prstGeom>
          <a:noFill/>
        </p:spPr>
        <p:txBody>
          <a:bodyPr wrap="square">
            <a:spAutoFit/>
          </a:bodyPr>
          <a:lstStyle/>
          <a:p>
            <a:r>
              <a:rPr lang="en-GB" dirty="0"/>
              <a:t>select (</a:t>
            </a:r>
          </a:p>
          <a:p>
            <a:r>
              <a:rPr lang="en-GB" dirty="0"/>
              <a:t>(select count(*) from photos)/</a:t>
            </a:r>
          </a:p>
          <a:p>
            <a:r>
              <a:rPr lang="en-GB" dirty="0"/>
              <a:t>(select count(*) from users)</a:t>
            </a:r>
          </a:p>
          <a:p>
            <a:r>
              <a:rPr lang="en-GB" dirty="0"/>
              <a:t>) as Average;</a:t>
            </a:r>
          </a:p>
        </p:txBody>
      </p:sp>
      <p:sp>
        <p:nvSpPr>
          <p:cNvPr id="10" name="TextBox 9">
            <a:extLst>
              <a:ext uri="{FF2B5EF4-FFF2-40B4-BE49-F238E27FC236}">
                <a16:creationId xmlns:a16="http://schemas.microsoft.com/office/drawing/2014/main" id="{4DF24DA7-6AFD-F4E9-2C33-81B75E8A558A}"/>
              </a:ext>
            </a:extLst>
          </p:cNvPr>
          <p:cNvSpPr txBox="1"/>
          <p:nvPr/>
        </p:nvSpPr>
        <p:spPr>
          <a:xfrm>
            <a:off x="2943225" y="5678147"/>
            <a:ext cx="6094268" cy="369332"/>
          </a:xfrm>
          <a:prstGeom prst="rect">
            <a:avLst/>
          </a:prstGeom>
          <a:noFill/>
        </p:spPr>
        <p:txBody>
          <a:bodyPr wrap="square">
            <a:spAutoFit/>
          </a:bodyPr>
          <a:lstStyle/>
          <a:p>
            <a:r>
              <a:rPr lang="en-US" b="1" dirty="0"/>
              <a:t>Conclusion</a:t>
            </a:r>
            <a:r>
              <a:rPr lang="en-US" dirty="0"/>
              <a:t> : Average photos uploaded by user is 2.5700</a:t>
            </a:r>
            <a:endParaRPr lang="en-GB" dirty="0"/>
          </a:p>
        </p:txBody>
      </p:sp>
      <p:pic>
        <p:nvPicPr>
          <p:cNvPr id="12" name="Picture 11" descr="A black and white icon of a person with a magnet&#10;&#10;Description automatically generated">
            <a:extLst>
              <a:ext uri="{FF2B5EF4-FFF2-40B4-BE49-F238E27FC236}">
                <a16:creationId xmlns:a16="http://schemas.microsoft.com/office/drawing/2014/main" id="{4E0DFC29-9180-66CE-0248-B02627715B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81185" y="2788436"/>
            <a:ext cx="1901536" cy="1901536"/>
          </a:xfrm>
          <a:prstGeom prst="rect">
            <a:avLst/>
          </a:prstGeom>
        </p:spPr>
      </p:pic>
    </p:spTree>
    <p:extLst>
      <p:ext uri="{BB962C8B-B14F-4D97-AF65-F5344CB8AC3E}">
        <p14:creationId xmlns:p14="http://schemas.microsoft.com/office/powerpoint/2010/main" val="4148663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olorful circle with a logo&#10;&#10;Description automatically generated">
            <a:extLst>
              <a:ext uri="{FF2B5EF4-FFF2-40B4-BE49-F238E27FC236}">
                <a16:creationId xmlns:a16="http://schemas.microsoft.com/office/drawing/2014/main" id="{1A8BB43F-1733-4033-BA05-001BFC5CC363}"/>
              </a:ext>
            </a:extLst>
          </p:cNvPr>
          <p:cNvPicPr>
            <a:picLocks noChangeAspect="1"/>
          </p:cNvPicPr>
          <p:nvPr/>
        </p:nvPicPr>
        <p:blipFill>
          <a:blip r:embed="rId2">
            <a:alphaModFix amt="42000"/>
            <a:extLst>
              <a:ext uri="{28A0092B-C50C-407E-A947-70E740481C1C}">
                <a14:useLocalDpi xmlns:a14="http://schemas.microsoft.com/office/drawing/2010/main" val="0"/>
              </a:ext>
            </a:extLst>
          </a:blip>
          <a:stretch>
            <a:fillRect/>
          </a:stretch>
        </p:blipFill>
        <p:spPr>
          <a:xfrm>
            <a:off x="10048240" y="-81280"/>
            <a:ext cx="2143760" cy="1362427"/>
          </a:xfrm>
          <a:prstGeom prst="rect">
            <a:avLst/>
          </a:prstGeom>
        </p:spPr>
      </p:pic>
      <p:sp>
        <p:nvSpPr>
          <p:cNvPr id="4" name="TextBox 3">
            <a:extLst>
              <a:ext uri="{FF2B5EF4-FFF2-40B4-BE49-F238E27FC236}">
                <a16:creationId xmlns:a16="http://schemas.microsoft.com/office/drawing/2014/main" id="{51902A6C-45E9-0B83-86A3-764D03D677FE}"/>
              </a:ext>
            </a:extLst>
          </p:cNvPr>
          <p:cNvSpPr txBox="1"/>
          <p:nvPr/>
        </p:nvSpPr>
        <p:spPr>
          <a:xfrm>
            <a:off x="1665374" y="499133"/>
            <a:ext cx="8019184" cy="646331"/>
          </a:xfrm>
          <a:prstGeom prst="rect">
            <a:avLst/>
          </a:prstGeom>
          <a:noFill/>
        </p:spPr>
        <p:txBody>
          <a:bodyPr wrap="square">
            <a:spAutoFit/>
          </a:bodyPr>
          <a:lstStyle/>
          <a:p>
            <a:r>
              <a:rPr lang="en-US" dirty="0"/>
              <a:t>2</a:t>
            </a:r>
            <a:r>
              <a:rPr lang="en-US" b="1" dirty="0"/>
              <a:t>. Bots &amp; Fake account</a:t>
            </a:r>
            <a:r>
              <a:rPr lang="en-US" dirty="0"/>
              <a:t>: </a:t>
            </a:r>
            <a:r>
              <a:rPr lang="en-US" b="0" i="0" dirty="0">
                <a:effectLst/>
                <a:highlight>
                  <a:srgbClr val="FFFFFF"/>
                </a:highlight>
                <a:latin typeface="Manrope"/>
              </a:rPr>
              <a:t>Identify users (potential bots) who have liked every single photo on the site, as this is not typically possible for a normal user.</a:t>
            </a:r>
            <a:r>
              <a:rPr lang="en-US" dirty="0"/>
              <a:t>.</a:t>
            </a:r>
            <a:endParaRPr lang="en-GB" dirty="0"/>
          </a:p>
        </p:txBody>
      </p:sp>
      <p:pic>
        <p:nvPicPr>
          <p:cNvPr id="6" name="Picture 5">
            <a:extLst>
              <a:ext uri="{FF2B5EF4-FFF2-40B4-BE49-F238E27FC236}">
                <a16:creationId xmlns:a16="http://schemas.microsoft.com/office/drawing/2014/main" id="{1769B48F-61D4-E2D8-3198-255904F8FDF9}"/>
              </a:ext>
            </a:extLst>
          </p:cNvPr>
          <p:cNvPicPr>
            <a:picLocks noChangeAspect="1"/>
          </p:cNvPicPr>
          <p:nvPr/>
        </p:nvPicPr>
        <p:blipFill>
          <a:blip r:embed="rId3"/>
          <a:stretch>
            <a:fillRect/>
          </a:stretch>
        </p:blipFill>
        <p:spPr>
          <a:xfrm>
            <a:off x="4500005" y="1392406"/>
            <a:ext cx="7033904" cy="4720009"/>
          </a:xfrm>
          <a:prstGeom prst="rect">
            <a:avLst/>
          </a:prstGeom>
        </p:spPr>
      </p:pic>
      <p:sp>
        <p:nvSpPr>
          <p:cNvPr id="8" name="TextBox 7">
            <a:extLst>
              <a:ext uri="{FF2B5EF4-FFF2-40B4-BE49-F238E27FC236}">
                <a16:creationId xmlns:a16="http://schemas.microsoft.com/office/drawing/2014/main" id="{47C78AD4-EFDC-709E-B70F-70D41F6FE9EB}"/>
              </a:ext>
            </a:extLst>
          </p:cNvPr>
          <p:cNvSpPr txBox="1"/>
          <p:nvPr/>
        </p:nvSpPr>
        <p:spPr>
          <a:xfrm>
            <a:off x="502227" y="3157270"/>
            <a:ext cx="4206586" cy="2308324"/>
          </a:xfrm>
          <a:prstGeom prst="rect">
            <a:avLst/>
          </a:prstGeom>
          <a:noFill/>
        </p:spPr>
        <p:txBody>
          <a:bodyPr wrap="square">
            <a:spAutoFit/>
          </a:bodyPr>
          <a:lstStyle/>
          <a:p>
            <a:r>
              <a:rPr lang="en-GB" b="1" dirty="0"/>
              <a:t>select</a:t>
            </a:r>
            <a:r>
              <a:rPr lang="en-GB" dirty="0"/>
              <a:t> </a:t>
            </a:r>
            <a:r>
              <a:rPr lang="en-GB" dirty="0" err="1"/>
              <a:t>users.username</a:t>
            </a:r>
            <a:r>
              <a:rPr lang="en-GB" dirty="0"/>
              <a:t>,</a:t>
            </a:r>
          </a:p>
          <a:p>
            <a:r>
              <a:rPr lang="en-GB" dirty="0"/>
              <a:t> count(</a:t>
            </a:r>
            <a:r>
              <a:rPr lang="en-GB" dirty="0" err="1"/>
              <a:t>photo_id</a:t>
            </a:r>
            <a:r>
              <a:rPr lang="en-GB" dirty="0"/>
              <a:t>) as </a:t>
            </a:r>
            <a:r>
              <a:rPr lang="en-GB" dirty="0" err="1"/>
              <a:t>TotalLikes</a:t>
            </a:r>
            <a:endParaRPr lang="en-GB" dirty="0"/>
          </a:p>
          <a:p>
            <a:r>
              <a:rPr lang="en-GB" dirty="0"/>
              <a:t> </a:t>
            </a:r>
            <a:r>
              <a:rPr lang="en-GB" b="1" dirty="0"/>
              <a:t>from</a:t>
            </a:r>
            <a:r>
              <a:rPr lang="en-GB" dirty="0"/>
              <a:t> likes</a:t>
            </a:r>
          </a:p>
          <a:p>
            <a:r>
              <a:rPr lang="en-GB" b="1" dirty="0"/>
              <a:t>inner</a:t>
            </a:r>
            <a:r>
              <a:rPr lang="en-GB" dirty="0"/>
              <a:t> </a:t>
            </a:r>
            <a:r>
              <a:rPr lang="en-GB" b="1" dirty="0"/>
              <a:t>join</a:t>
            </a:r>
            <a:r>
              <a:rPr lang="en-GB" dirty="0"/>
              <a:t> users</a:t>
            </a:r>
          </a:p>
          <a:p>
            <a:r>
              <a:rPr lang="en-GB" b="1" dirty="0"/>
              <a:t>on</a:t>
            </a:r>
            <a:r>
              <a:rPr lang="en-GB" dirty="0"/>
              <a:t> users.id=</a:t>
            </a:r>
            <a:r>
              <a:rPr lang="en-GB" dirty="0" err="1"/>
              <a:t>likes.user_id</a:t>
            </a:r>
            <a:endParaRPr lang="en-GB" dirty="0"/>
          </a:p>
          <a:p>
            <a:r>
              <a:rPr lang="en-GB" b="1" dirty="0"/>
              <a:t>group</a:t>
            </a:r>
            <a:r>
              <a:rPr lang="en-GB" dirty="0"/>
              <a:t> </a:t>
            </a:r>
            <a:r>
              <a:rPr lang="en-GB" b="1" dirty="0"/>
              <a:t>by</a:t>
            </a:r>
            <a:r>
              <a:rPr lang="en-GB" dirty="0"/>
              <a:t> </a:t>
            </a:r>
            <a:r>
              <a:rPr lang="en-GB" dirty="0" err="1"/>
              <a:t>user_id</a:t>
            </a:r>
            <a:endParaRPr lang="en-GB" dirty="0"/>
          </a:p>
          <a:p>
            <a:r>
              <a:rPr lang="en-GB" b="1" dirty="0"/>
              <a:t>having</a:t>
            </a:r>
            <a:r>
              <a:rPr lang="en-GB" dirty="0"/>
              <a:t> </a:t>
            </a:r>
            <a:r>
              <a:rPr lang="en-GB" dirty="0" err="1"/>
              <a:t>TotalLikes</a:t>
            </a:r>
            <a:r>
              <a:rPr lang="en-GB" dirty="0"/>
              <a:t>=(select count(*) from photos) </a:t>
            </a:r>
            <a:r>
              <a:rPr lang="en-GB" b="1" dirty="0"/>
              <a:t>order</a:t>
            </a:r>
            <a:r>
              <a:rPr lang="en-GB" dirty="0"/>
              <a:t> by </a:t>
            </a:r>
            <a:r>
              <a:rPr lang="en-GB" dirty="0" err="1"/>
              <a:t>TotalLikes</a:t>
            </a:r>
            <a:r>
              <a:rPr lang="en-GB" dirty="0"/>
              <a:t> </a:t>
            </a:r>
            <a:r>
              <a:rPr lang="en-GB" dirty="0" err="1"/>
              <a:t>desc</a:t>
            </a:r>
            <a:r>
              <a:rPr lang="en-GB" dirty="0"/>
              <a:t>;</a:t>
            </a:r>
          </a:p>
        </p:txBody>
      </p:sp>
      <p:sp>
        <p:nvSpPr>
          <p:cNvPr id="10" name="TextBox 9">
            <a:extLst>
              <a:ext uri="{FF2B5EF4-FFF2-40B4-BE49-F238E27FC236}">
                <a16:creationId xmlns:a16="http://schemas.microsoft.com/office/drawing/2014/main" id="{175303F4-1A86-6AD1-1A98-3926BCFFBCDD}"/>
              </a:ext>
            </a:extLst>
          </p:cNvPr>
          <p:cNvSpPr txBox="1"/>
          <p:nvPr/>
        </p:nvSpPr>
        <p:spPr>
          <a:xfrm>
            <a:off x="4500005" y="6143132"/>
            <a:ext cx="7499639" cy="369332"/>
          </a:xfrm>
          <a:prstGeom prst="rect">
            <a:avLst/>
          </a:prstGeom>
          <a:noFill/>
        </p:spPr>
        <p:txBody>
          <a:bodyPr wrap="square">
            <a:spAutoFit/>
          </a:bodyPr>
          <a:lstStyle/>
          <a:p>
            <a:r>
              <a:rPr lang="en-US" b="1" dirty="0"/>
              <a:t>Conclusion</a:t>
            </a:r>
            <a:r>
              <a:rPr lang="en-US" dirty="0"/>
              <a:t>: Above mentioned users liked every single photos.</a:t>
            </a:r>
            <a:endParaRPr lang="en-GB" dirty="0"/>
          </a:p>
        </p:txBody>
      </p:sp>
      <p:pic>
        <p:nvPicPr>
          <p:cNvPr id="12" name="Picture 11" descr="A cartoon of a robot with a headset and computer&#10;&#10;Description automatically generated">
            <a:extLst>
              <a:ext uri="{FF2B5EF4-FFF2-40B4-BE49-F238E27FC236}">
                <a16:creationId xmlns:a16="http://schemas.microsoft.com/office/drawing/2014/main" id="{E6660A29-E129-8C66-663C-70172A8D3E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92482" y="1281147"/>
            <a:ext cx="1569118" cy="1777342"/>
          </a:xfrm>
          <a:prstGeom prst="rect">
            <a:avLst/>
          </a:prstGeom>
        </p:spPr>
      </p:pic>
    </p:spTree>
    <p:extLst>
      <p:ext uri="{BB962C8B-B14F-4D97-AF65-F5344CB8AC3E}">
        <p14:creationId xmlns:p14="http://schemas.microsoft.com/office/powerpoint/2010/main" val="1421396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157618-C794-6ABF-45F0-18790AB41AD4}"/>
              </a:ext>
            </a:extLst>
          </p:cNvPr>
          <p:cNvSpPr/>
          <p:nvPr/>
        </p:nvSpPr>
        <p:spPr>
          <a:xfrm>
            <a:off x="4149531" y="2073717"/>
            <a:ext cx="3664337"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THANK YOU</a:t>
            </a:r>
          </a:p>
        </p:txBody>
      </p:sp>
      <p:sp>
        <p:nvSpPr>
          <p:cNvPr id="3" name="TextBox 2">
            <a:extLst>
              <a:ext uri="{FF2B5EF4-FFF2-40B4-BE49-F238E27FC236}">
                <a16:creationId xmlns:a16="http://schemas.microsoft.com/office/drawing/2014/main" id="{2DEDD454-8EE2-9113-B239-012407540287}"/>
              </a:ext>
            </a:extLst>
          </p:cNvPr>
          <p:cNvSpPr txBox="1"/>
          <p:nvPr/>
        </p:nvSpPr>
        <p:spPr>
          <a:xfrm>
            <a:off x="8520545" y="4540827"/>
            <a:ext cx="2670464" cy="369332"/>
          </a:xfrm>
          <a:prstGeom prst="rect">
            <a:avLst/>
          </a:prstGeom>
          <a:noFill/>
        </p:spPr>
        <p:txBody>
          <a:bodyPr wrap="square" rtlCol="0">
            <a:spAutoFit/>
          </a:bodyPr>
          <a:lstStyle/>
          <a:p>
            <a:r>
              <a:rPr lang="en-US" i="1" dirty="0">
                <a:latin typeface="Amasis MT Pro Black" panose="020F0502020204030204" pitchFamily="18" charset="0"/>
                <a:cs typeface="Aparajita" panose="020B0502040204020203" pitchFamily="18" charset="0"/>
              </a:rPr>
              <a:t>By MD. Nazish Taj</a:t>
            </a:r>
            <a:endParaRPr lang="en-GB" i="1" dirty="0">
              <a:latin typeface="Amasis MT Pro Black" panose="020F0502020204030204" pitchFamily="18" charset="0"/>
              <a:cs typeface="Aparajita" panose="020B0502040204020203" pitchFamily="18" charset="0"/>
            </a:endParaRPr>
          </a:p>
        </p:txBody>
      </p:sp>
    </p:spTree>
    <p:extLst>
      <p:ext uri="{BB962C8B-B14F-4D97-AF65-F5344CB8AC3E}">
        <p14:creationId xmlns:p14="http://schemas.microsoft.com/office/powerpoint/2010/main" val="1187701090"/>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188</TotalTime>
  <Words>647</Words>
  <Application>Microsoft Office PowerPoint</Application>
  <PresentationFormat>Widescreen</PresentationFormat>
  <Paragraphs>73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Amasis MT Pro Black</vt:lpstr>
      <vt:lpstr>Arial</vt:lpstr>
      <vt:lpstr>Manrope</vt:lpstr>
      <vt:lpstr>Tw Cen MT</vt:lpstr>
      <vt:lpstr>Droplet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Nazish Taj</dc:creator>
  <cp:lastModifiedBy>MD. Nazish Taj</cp:lastModifiedBy>
  <cp:revision>18</cp:revision>
  <dcterms:created xsi:type="dcterms:W3CDTF">2024-08-03T16:51:43Z</dcterms:created>
  <dcterms:modified xsi:type="dcterms:W3CDTF">2024-08-05T15:34:22Z</dcterms:modified>
</cp:coreProperties>
</file>